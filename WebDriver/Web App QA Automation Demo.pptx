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8"/>
  </p:notesMasterIdLst>
  <p:sldIdLst>
    <p:sldId id="284" r:id="rId2"/>
    <p:sldId id="282" r:id="rId3"/>
    <p:sldId id="263" r:id="rId4"/>
    <p:sldId id="276" r:id="rId5"/>
    <p:sldId id="285" r:id="rId6"/>
    <p:sldId id="289" r:id="rId7"/>
    <p:sldId id="274" r:id="rId8"/>
    <p:sldId id="287" r:id="rId9"/>
    <p:sldId id="288" r:id="rId10"/>
    <p:sldId id="277" r:id="rId11"/>
    <p:sldId id="290" r:id="rId12"/>
    <p:sldId id="291" r:id="rId13"/>
    <p:sldId id="292" r:id="rId14"/>
    <p:sldId id="293" r:id="rId15"/>
    <p:sldId id="286" r:id="rId16"/>
    <p:sldId id="294"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1" d="100"/>
          <a:sy n="111" d="100"/>
        </p:scale>
        <p:origin x="1614"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B3AAE6-CD2E-42E3-AE23-86BB24A0E6C6}" type="datetimeFigureOut">
              <a:rPr lang="en-US" smtClean="0"/>
              <a:t>1/28/2015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296E3-714D-4B7D-BDB4-257DCC7DCD24}" type="slidenum">
              <a:rPr lang="en-US" smtClean="0"/>
              <a:t>‹#›</a:t>
            </a:fld>
            <a:endParaRPr lang="en-US"/>
          </a:p>
        </p:txBody>
      </p:sp>
    </p:spTree>
    <p:extLst>
      <p:ext uri="{BB962C8B-B14F-4D97-AF65-F5344CB8AC3E}">
        <p14:creationId xmlns:p14="http://schemas.microsoft.com/office/powerpoint/2010/main" val="11487773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a:p>
        </p:txBody>
      </p:sp>
      <p:sp>
        <p:nvSpPr>
          <p:cNvPr id="4" name="Slide Number Placeholder 3"/>
          <p:cNvSpPr>
            <a:spLocks noGrp="1"/>
          </p:cNvSpPr>
          <p:nvPr>
            <p:ph type="sldNum" sz="quarter" idx="10"/>
          </p:nvPr>
        </p:nvSpPr>
        <p:spPr/>
        <p:txBody>
          <a:bodyPr/>
          <a:lstStyle/>
          <a:p>
            <a:fld id="{E576F5EF-1DEC-4226-8642-B6FB7F7E3DA2}" type="slidenum">
              <a:rPr lang="uk-UA" smtClean="0"/>
              <a:t>1</a:t>
            </a:fld>
            <a:endParaRPr lang="uk-UA"/>
          </a:p>
        </p:txBody>
      </p:sp>
    </p:spTree>
    <p:extLst>
      <p:ext uri="{BB962C8B-B14F-4D97-AF65-F5344CB8AC3E}">
        <p14:creationId xmlns:p14="http://schemas.microsoft.com/office/powerpoint/2010/main" val="41708170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099" name="Picture 3" descr="D:\BrandLohika\lohika_presentation\Presentation Lohika_back2-03.jpg"/>
          <p:cNvPicPr>
            <a:picLocks noChangeAspect="1" noChangeArrowheads="1"/>
          </p:cNvPicPr>
          <p:nvPr/>
        </p:nvPicPr>
        <p:blipFill rotWithShape="1">
          <a:blip r:embed="rId2">
            <a:extLst>
              <a:ext uri="{28A0092B-C50C-407E-A947-70E740481C1C}">
                <a14:useLocalDpi xmlns:a14="http://schemas.microsoft.com/office/drawing/2010/main" val="0"/>
              </a:ext>
            </a:extLst>
          </a:blip>
          <a:srcRect b="13439"/>
          <a:stretch/>
        </p:blipFill>
        <p:spPr bwMode="auto">
          <a:xfrm>
            <a:off x="-1426" y="0"/>
            <a:ext cx="9145426" cy="593634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686514" y="980728"/>
            <a:ext cx="7772400" cy="1470025"/>
          </a:xfrm>
        </p:spPr>
        <p:txBody>
          <a:bodyPr/>
          <a:lstStyle/>
          <a:p>
            <a:r>
              <a:rPr lang="en-US" smtClean="0"/>
              <a:t>Click to edit Master title style</a:t>
            </a:r>
            <a:endParaRPr lang="uk-UA" dirty="0"/>
          </a:p>
        </p:txBody>
      </p:sp>
      <p:sp>
        <p:nvSpPr>
          <p:cNvPr id="3" name="Subtitle 2"/>
          <p:cNvSpPr>
            <a:spLocks noGrp="1"/>
          </p:cNvSpPr>
          <p:nvPr>
            <p:ph type="subTitle" idx="1"/>
          </p:nvPr>
        </p:nvSpPr>
        <p:spPr>
          <a:xfrm>
            <a:off x="2051720" y="2564904"/>
            <a:ext cx="6400800" cy="3073896"/>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uk-UA" dirty="0"/>
          </a:p>
        </p:txBody>
      </p:sp>
    </p:spTree>
    <p:extLst>
      <p:ext uri="{BB962C8B-B14F-4D97-AF65-F5344CB8AC3E}">
        <p14:creationId xmlns:p14="http://schemas.microsoft.com/office/powerpoint/2010/main" val="91295913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5122" name="Picture 2" descr="D:\BrandLohika\lohika_presentation\Presentation Lohika_back2-05.jpg"/>
          <p:cNvPicPr>
            <a:picLocks noChangeAspect="1" noChangeArrowheads="1"/>
          </p:cNvPicPr>
          <p:nvPr/>
        </p:nvPicPr>
        <p:blipFill rotWithShape="1">
          <a:blip r:embed="rId2">
            <a:extLst>
              <a:ext uri="{28A0092B-C50C-407E-A947-70E740481C1C}">
                <a14:useLocalDpi xmlns:a14="http://schemas.microsoft.com/office/drawing/2010/main" val="0"/>
              </a:ext>
            </a:extLst>
          </a:blip>
          <a:srcRect b="13003"/>
          <a:stretch/>
        </p:blipFill>
        <p:spPr bwMode="auto">
          <a:xfrm>
            <a:off x="0" y="0"/>
            <a:ext cx="9144000" cy="596537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899592" y="476672"/>
            <a:ext cx="7488832" cy="940966"/>
          </a:xfrm>
        </p:spPr>
        <p:txBody>
          <a:bodyPr/>
          <a:lstStyle/>
          <a:p>
            <a:r>
              <a:rPr lang="en-US" smtClean="0"/>
              <a:t>Click to edit Master title style</a:t>
            </a:r>
            <a:endParaRPr lang="uk-UA"/>
          </a:p>
        </p:txBody>
      </p:sp>
      <p:sp>
        <p:nvSpPr>
          <p:cNvPr id="3" name="Content Placeholder 2"/>
          <p:cNvSpPr>
            <a:spLocks noGrp="1"/>
          </p:cNvSpPr>
          <p:nvPr>
            <p:ph idx="1"/>
          </p:nvPr>
        </p:nvSpPr>
        <p:spPr>
          <a:xfrm>
            <a:off x="899592" y="1628800"/>
            <a:ext cx="7488832" cy="44973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uk-UA" dirty="0"/>
          </a:p>
        </p:txBody>
      </p:sp>
    </p:spTree>
    <p:extLst>
      <p:ext uri="{BB962C8B-B14F-4D97-AF65-F5344CB8AC3E}">
        <p14:creationId xmlns:p14="http://schemas.microsoft.com/office/powerpoint/2010/main" val="380140380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6146" name="Picture 2" descr="D:\BrandLohika\lohika_presentation\Presentation Lohika_back2-02.jpg"/>
          <p:cNvPicPr>
            <a:picLocks noChangeAspect="1" noChangeArrowheads="1"/>
          </p:cNvPicPr>
          <p:nvPr/>
        </p:nvPicPr>
        <p:blipFill rotWithShape="1">
          <a:blip r:embed="rId2">
            <a:extLst>
              <a:ext uri="{28A0092B-C50C-407E-A947-70E740481C1C}">
                <a14:useLocalDpi xmlns:a14="http://schemas.microsoft.com/office/drawing/2010/main" val="0"/>
              </a:ext>
            </a:extLst>
          </a:blip>
          <a:srcRect b="13228"/>
          <a:stretch/>
        </p:blipFill>
        <p:spPr bwMode="auto">
          <a:xfrm>
            <a:off x="0" y="0"/>
            <a:ext cx="9145428" cy="595085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uk-UA" dirty="0"/>
          </a:p>
        </p:txBody>
      </p:sp>
      <p:sp>
        <p:nvSpPr>
          <p:cNvPr id="3" name="Text Placeholder 2"/>
          <p:cNvSpPr>
            <a:spLocks noGrp="1"/>
          </p:cNvSpPr>
          <p:nvPr>
            <p:ph type="body" idx="1"/>
          </p:nvPr>
        </p:nvSpPr>
        <p:spPr>
          <a:xfrm>
            <a:off x="722313" y="980729"/>
            <a:ext cx="7772400" cy="3426172"/>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Tree>
    <p:extLst>
      <p:ext uri="{BB962C8B-B14F-4D97-AF65-F5344CB8AC3E}">
        <p14:creationId xmlns:p14="http://schemas.microsoft.com/office/powerpoint/2010/main" val="84138589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7170" name="Picture 2" descr="D:\BrandLohika\lohika_presentation\Presentation Lohika_back2-04.jpg"/>
          <p:cNvPicPr>
            <a:picLocks noChangeAspect="1" noChangeArrowheads="1"/>
          </p:cNvPicPr>
          <p:nvPr/>
        </p:nvPicPr>
        <p:blipFill rotWithShape="1">
          <a:blip r:embed="rId2">
            <a:extLst>
              <a:ext uri="{28A0092B-C50C-407E-A947-70E740481C1C}">
                <a14:useLocalDpi xmlns:a14="http://schemas.microsoft.com/office/drawing/2010/main" val="0"/>
              </a:ext>
            </a:extLst>
          </a:blip>
          <a:srcRect b="13228"/>
          <a:stretch/>
        </p:blipFill>
        <p:spPr bwMode="auto">
          <a:xfrm>
            <a:off x="-1" y="0"/>
            <a:ext cx="9145429" cy="595085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899592" y="548680"/>
            <a:ext cx="7488832" cy="868958"/>
          </a:xfrm>
        </p:spPr>
        <p:txBody>
          <a:bodyPr/>
          <a:lstStyle/>
          <a:p>
            <a:r>
              <a:rPr lang="en-US" smtClean="0"/>
              <a:t>Click to edit Master title style</a:t>
            </a:r>
            <a:endParaRPr lang="uk-UA" dirty="0"/>
          </a:p>
        </p:txBody>
      </p:sp>
      <p:sp>
        <p:nvSpPr>
          <p:cNvPr id="3" name="Content Placeholder 2"/>
          <p:cNvSpPr>
            <a:spLocks noGrp="1"/>
          </p:cNvSpPr>
          <p:nvPr>
            <p:ph sz="half" idx="1"/>
          </p:nvPr>
        </p:nvSpPr>
        <p:spPr>
          <a:xfrm>
            <a:off x="899592" y="1600200"/>
            <a:ext cx="359620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uk-UA" dirty="0"/>
          </a:p>
        </p:txBody>
      </p:sp>
      <p:sp>
        <p:nvSpPr>
          <p:cNvPr id="4" name="Content Placeholder 3"/>
          <p:cNvSpPr>
            <a:spLocks noGrp="1"/>
          </p:cNvSpPr>
          <p:nvPr>
            <p:ph sz="half" idx="2"/>
          </p:nvPr>
        </p:nvSpPr>
        <p:spPr>
          <a:xfrm>
            <a:off x="4648200" y="1600200"/>
            <a:ext cx="3668216"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uk-UA" dirty="0"/>
          </a:p>
        </p:txBody>
      </p:sp>
    </p:spTree>
    <p:extLst>
      <p:ext uri="{BB962C8B-B14F-4D97-AF65-F5344CB8AC3E}">
        <p14:creationId xmlns:p14="http://schemas.microsoft.com/office/powerpoint/2010/main" val="774771513"/>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pic>
        <p:nvPicPr>
          <p:cNvPr id="10" name="Picture 3" descr="D:\BrandLohika\lohika_presentation\Presentation Lohika_back2-03.jpg"/>
          <p:cNvPicPr>
            <a:picLocks noChangeAspect="1" noChangeArrowheads="1"/>
          </p:cNvPicPr>
          <p:nvPr/>
        </p:nvPicPr>
        <p:blipFill rotWithShape="1">
          <a:blip r:embed="rId2">
            <a:extLst>
              <a:ext uri="{28A0092B-C50C-407E-A947-70E740481C1C}">
                <a14:useLocalDpi xmlns:a14="http://schemas.microsoft.com/office/drawing/2010/main" val="0"/>
              </a:ext>
            </a:extLst>
          </a:blip>
          <a:srcRect b="13439"/>
          <a:stretch/>
        </p:blipFill>
        <p:spPr bwMode="auto">
          <a:xfrm>
            <a:off x="-1426" y="0"/>
            <a:ext cx="9145426" cy="593634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lvl1pPr>
              <a:defRPr/>
            </a:lvl1pPr>
          </a:lstStyle>
          <a:p>
            <a:r>
              <a:rPr lang="en-US" smtClean="0"/>
              <a:t>Click to edit Master title style</a:t>
            </a:r>
            <a:endParaRPr lang="uk-U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uk-UA"/>
          </a:p>
        </p:txBody>
      </p:sp>
    </p:spTree>
    <p:extLst>
      <p:ext uri="{BB962C8B-B14F-4D97-AF65-F5344CB8AC3E}">
        <p14:creationId xmlns:p14="http://schemas.microsoft.com/office/powerpoint/2010/main" val="416956176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6" name="Picture 2" descr="D:\BrandLohika\lohika_presentation\Presentation Lohika_back2-02.jpg"/>
          <p:cNvPicPr>
            <a:picLocks noChangeAspect="1" noChangeArrowheads="1"/>
          </p:cNvPicPr>
          <p:nvPr/>
        </p:nvPicPr>
        <p:blipFill rotWithShape="1">
          <a:blip r:embed="rId2">
            <a:extLst>
              <a:ext uri="{28A0092B-C50C-407E-A947-70E740481C1C}">
                <a14:useLocalDpi xmlns:a14="http://schemas.microsoft.com/office/drawing/2010/main" val="0"/>
              </a:ext>
            </a:extLst>
          </a:blip>
          <a:srcRect b="13228"/>
          <a:stretch/>
        </p:blipFill>
        <p:spPr bwMode="auto">
          <a:xfrm>
            <a:off x="0" y="0"/>
            <a:ext cx="9145429" cy="595085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smtClean="0"/>
              <a:t>Click to edit Master title style</a:t>
            </a:r>
            <a:endParaRPr lang="uk-UA"/>
          </a:p>
        </p:txBody>
      </p:sp>
      <p:sp>
        <p:nvSpPr>
          <p:cNvPr id="7"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uk-UA"/>
          </a:p>
        </p:txBody>
      </p:sp>
      <p:sp>
        <p:nvSpPr>
          <p:cNvPr id="9"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uk-UA"/>
          </a:p>
        </p:txBody>
      </p:sp>
    </p:spTree>
    <p:extLst>
      <p:ext uri="{BB962C8B-B14F-4D97-AF65-F5344CB8AC3E}">
        <p14:creationId xmlns:p14="http://schemas.microsoft.com/office/powerpoint/2010/main" val="352249349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pic>
        <p:nvPicPr>
          <p:cNvPr id="6" name="Picture 2" descr="D:\BrandLohika\lohika_presentation\Presentation Lohika_back2-02.jpg"/>
          <p:cNvPicPr>
            <a:picLocks noChangeAspect="1" noChangeArrowheads="1"/>
          </p:cNvPicPr>
          <p:nvPr/>
        </p:nvPicPr>
        <p:blipFill rotWithShape="1">
          <a:blip r:embed="rId2">
            <a:extLst>
              <a:ext uri="{28A0092B-C50C-407E-A947-70E740481C1C}">
                <a14:useLocalDpi xmlns:a14="http://schemas.microsoft.com/office/drawing/2010/main" val="0"/>
              </a:ext>
            </a:extLst>
          </a:blip>
          <a:srcRect b="13228"/>
          <a:stretch/>
        </p:blipFill>
        <p:spPr bwMode="auto">
          <a:xfrm>
            <a:off x="0" y="0"/>
            <a:ext cx="9145429" cy="5950857"/>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a:spLocks noGrp="1"/>
          </p:cNvSpPr>
          <p:nvPr>
            <p:ph type="title"/>
          </p:nvPr>
        </p:nvSpPr>
        <p:spPr>
          <a:xfrm>
            <a:off x="457200" y="274638"/>
            <a:ext cx="8229600" cy="1143000"/>
          </a:xfrm>
        </p:spPr>
        <p:txBody>
          <a:bodyPr/>
          <a:lstStyle/>
          <a:p>
            <a:r>
              <a:rPr lang="en-US" smtClean="0"/>
              <a:t>Click to edit Master title style</a:t>
            </a:r>
            <a:endParaRPr lang="uk-UA"/>
          </a:p>
        </p:txBody>
      </p:sp>
    </p:spTree>
    <p:extLst>
      <p:ext uri="{BB962C8B-B14F-4D97-AF65-F5344CB8AC3E}">
        <p14:creationId xmlns:p14="http://schemas.microsoft.com/office/powerpoint/2010/main" val="1907909166"/>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2" descr="D:\BrandLohika\lohika_presentation\Presentation Lohika_back2-02.jpg"/>
          <p:cNvPicPr>
            <a:picLocks noChangeAspect="1" noChangeArrowheads="1"/>
          </p:cNvPicPr>
          <p:nvPr/>
        </p:nvPicPr>
        <p:blipFill rotWithShape="1">
          <a:blip r:embed="rId2">
            <a:extLst>
              <a:ext uri="{28A0092B-C50C-407E-A947-70E740481C1C}">
                <a14:useLocalDpi xmlns:a14="http://schemas.microsoft.com/office/drawing/2010/main" val="0"/>
              </a:ext>
            </a:extLst>
          </a:blip>
          <a:srcRect b="13228"/>
          <a:stretch/>
        </p:blipFill>
        <p:spPr bwMode="auto">
          <a:xfrm>
            <a:off x="0" y="0"/>
            <a:ext cx="9145428" cy="595085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971600" y="692696"/>
            <a:ext cx="2493913" cy="742404"/>
          </a:xfrm>
        </p:spPr>
        <p:txBody>
          <a:bodyPr anchor="b"/>
          <a:lstStyle>
            <a:lvl1pPr algn="l">
              <a:defRPr sz="2000" b="1"/>
            </a:lvl1pPr>
          </a:lstStyle>
          <a:p>
            <a:r>
              <a:rPr lang="en-US" smtClean="0"/>
              <a:t>Click to edit Master title style</a:t>
            </a:r>
            <a:endParaRPr lang="uk-UA" dirty="0"/>
          </a:p>
        </p:txBody>
      </p:sp>
      <p:sp>
        <p:nvSpPr>
          <p:cNvPr id="3" name="Content Placeholder 2"/>
          <p:cNvSpPr>
            <a:spLocks noGrp="1"/>
          </p:cNvSpPr>
          <p:nvPr>
            <p:ph idx="1"/>
          </p:nvPr>
        </p:nvSpPr>
        <p:spPr>
          <a:xfrm>
            <a:off x="3575050" y="692696"/>
            <a:ext cx="4381326" cy="543346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uk-UA" dirty="0"/>
          </a:p>
        </p:txBody>
      </p:sp>
      <p:sp>
        <p:nvSpPr>
          <p:cNvPr id="4" name="Text Placeholder 3"/>
          <p:cNvSpPr>
            <a:spLocks noGrp="1"/>
          </p:cNvSpPr>
          <p:nvPr>
            <p:ph type="body" sz="half" idx="2"/>
          </p:nvPr>
        </p:nvSpPr>
        <p:spPr>
          <a:xfrm>
            <a:off x="971600" y="1435100"/>
            <a:ext cx="24939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30237991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pic>
        <p:nvPicPr>
          <p:cNvPr id="8" name="Picture 2" descr="D:\BrandLohika\lohika_presentation\Presentation Lohika_back2-04.jpg"/>
          <p:cNvPicPr>
            <a:picLocks noChangeAspect="1" noChangeArrowheads="1"/>
          </p:cNvPicPr>
          <p:nvPr/>
        </p:nvPicPr>
        <p:blipFill rotWithShape="1">
          <a:blip r:embed="rId2">
            <a:extLst>
              <a:ext uri="{28A0092B-C50C-407E-A947-70E740481C1C}">
                <a14:useLocalDpi xmlns:a14="http://schemas.microsoft.com/office/drawing/2010/main" val="0"/>
              </a:ext>
            </a:extLst>
          </a:blip>
          <a:srcRect b="13228"/>
          <a:stretch/>
        </p:blipFill>
        <p:spPr bwMode="auto">
          <a:xfrm>
            <a:off x="-1" y="0"/>
            <a:ext cx="9145429" cy="595085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uk-UA" dirty="0"/>
          </a:p>
        </p:txBody>
      </p:sp>
      <p:sp>
        <p:nvSpPr>
          <p:cNvPr id="3" name="Picture Placeholder 2"/>
          <p:cNvSpPr>
            <a:spLocks noGrp="1"/>
          </p:cNvSpPr>
          <p:nvPr>
            <p:ph type="pic" idx="1"/>
          </p:nvPr>
        </p:nvSpPr>
        <p:spPr>
          <a:xfrm>
            <a:off x="1792288" y="764703"/>
            <a:ext cx="5486400" cy="396287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uk-UA" dirty="0"/>
          </a:p>
        </p:txBody>
      </p:sp>
    </p:spTree>
    <p:extLst>
      <p:ext uri="{BB962C8B-B14F-4D97-AF65-F5344CB8AC3E}">
        <p14:creationId xmlns:p14="http://schemas.microsoft.com/office/powerpoint/2010/main" val="1399087591"/>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pic>
        <p:nvPicPr>
          <p:cNvPr id="8" name="Picture 3" descr="D:\BrandLohika\lohika_presentation\Presentation Lohika_back2-03.jpg"/>
          <p:cNvPicPr>
            <a:picLocks noChangeAspect="1" noChangeArrowheads="1"/>
          </p:cNvPicPr>
          <p:nvPr/>
        </p:nvPicPr>
        <p:blipFill rotWithShape="1">
          <a:blip r:embed="rId2">
            <a:extLst>
              <a:ext uri="{28A0092B-C50C-407E-A947-70E740481C1C}">
                <a14:useLocalDpi xmlns:a14="http://schemas.microsoft.com/office/drawing/2010/main" val="0"/>
              </a:ext>
            </a:extLst>
          </a:blip>
          <a:srcRect b="13439"/>
          <a:stretch/>
        </p:blipFill>
        <p:spPr bwMode="auto">
          <a:xfrm>
            <a:off x="-1426" y="0"/>
            <a:ext cx="9145426" cy="593634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smtClean="0"/>
              <a:t>Click to edit Master title style</a:t>
            </a:r>
            <a:endParaRPr lang="uk-UA"/>
          </a:p>
        </p:txBody>
      </p:sp>
      <p:sp>
        <p:nvSpPr>
          <p:cNvPr id="7" name="Picture Placeholder 2"/>
          <p:cNvSpPr>
            <a:spLocks noGrp="1"/>
          </p:cNvSpPr>
          <p:nvPr>
            <p:ph type="pic" idx="1"/>
          </p:nvPr>
        </p:nvSpPr>
        <p:spPr>
          <a:xfrm>
            <a:off x="3275856" y="1810229"/>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uk-UA" dirty="0"/>
          </a:p>
        </p:txBody>
      </p:sp>
    </p:spTree>
    <p:extLst>
      <p:ext uri="{BB962C8B-B14F-4D97-AF65-F5344CB8AC3E}">
        <p14:creationId xmlns:p14="http://schemas.microsoft.com/office/powerpoint/2010/main" val="406367129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pic>
        <p:nvPicPr>
          <p:cNvPr id="9" name="Picture 2" descr="D:\BrandLohika\lohika_presentation\Presentation Lohika_back2-04.jpg"/>
          <p:cNvPicPr>
            <a:picLocks noChangeAspect="1" noChangeArrowheads="1"/>
          </p:cNvPicPr>
          <p:nvPr/>
        </p:nvPicPr>
        <p:blipFill rotWithShape="1">
          <a:blip r:embed="rId2">
            <a:extLst>
              <a:ext uri="{28A0092B-C50C-407E-A947-70E740481C1C}">
                <a14:useLocalDpi xmlns:a14="http://schemas.microsoft.com/office/drawing/2010/main" val="0"/>
              </a:ext>
            </a:extLst>
          </a:blip>
          <a:srcRect b="13228"/>
          <a:stretch/>
        </p:blipFill>
        <p:spPr bwMode="auto">
          <a:xfrm>
            <a:off x="-1" y="0"/>
            <a:ext cx="9145429" cy="5950857"/>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p:cNvSpPr>
            <a:spLocks noGrp="1"/>
          </p:cNvSpPr>
          <p:nvPr>
            <p:ph idx="1"/>
          </p:nvPr>
        </p:nvSpPr>
        <p:spPr>
          <a:xfrm>
            <a:off x="827584" y="1340768"/>
            <a:ext cx="7859216" cy="478539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uk-UA"/>
          </a:p>
        </p:txBody>
      </p:sp>
      <p:sp>
        <p:nvSpPr>
          <p:cNvPr id="8" name="Title 1"/>
          <p:cNvSpPr>
            <a:spLocks noGrp="1"/>
          </p:cNvSpPr>
          <p:nvPr>
            <p:ph type="title"/>
          </p:nvPr>
        </p:nvSpPr>
        <p:spPr>
          <a:xfrm>
            <a:off x="457200" y="274638"/>
            <a:ext cx="8229600" cy="1143000"/>
          </a:xfrm>
        </p:spPr>
        <p:txBody>
          <a:bodyPr/>
          <a:lstStyle/>
          <a:p>
            <a:r>
              <a:rPr lang="en-US" smtClean="0"/>
              <a:t>Click to edit Master title style</a:t>
            </a:r>
            <a:endParaRPr lang="uk-UA"/>
          </a:p>
        </p:txBody>
      </p:sp>
    </p:spTree>
    <p:extLst>
      <p:ext uri="{BB962C8B-B14F-4D97-AF65-F5344CB8AC3E}">
        <p14:creationId xmlns:p14="http://schemas.microsoft.com/office/powerpoint/2010/main" val="176980789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uk-UA"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uk-UA" dirty="0"/>
          </a:p>
        </p:txBody>
      </p:sp>
      <p:pic>
        <p:nvPicPr>
          <p:cNvPr id="3074" name="Picture 2" descr="D:\BrandLohika\lohika_presentation\footer.jp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290" y="5945014"/>
            <a:ext cx="9174290" cy="9129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850828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iming>
    <p:tnLst>
      <p:par>
        <p:cTn id="1" dur="indefinite" restart="never" nodeType="tmRoot"/>
      </p:par>
    </p:tnLst>
  </p:timing>
  <p:txStyles>
    <p:titleStyle>
      <a:lvl1pPr algn="ctr" defTabSz="914400" rtl="0" eaLnBrk="1" latinLnBrk="0" hangingPunct="1">
        <a:spcBef>
          <a:spcPct val="0"/>
        </a:spcBef>
        <a:buNone/>
        <a:defRPr sz="4400" kern="1200">
          <a:solidFill>
            <a:srgbClr val="68AD45"/>
          </a:solidFill>
          <a:latin typeface="Casper" pitchFamily="2" charset="0"/>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7.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hyperlink" Target="http://eclipse.org/m2e/" TargetMode="External"/><Relationship Id="rId2" Type="http://schemas.openxmlformats.org/officeDocument/2006/relationships/hyperlink" Target="https://eclipse.org/downloads/" TargetMode="External"/><Relationship Id="rId1" Type="http://schemas.openxmlformats.org/officeDocument/2006/relationships/slideLayout" Target="../slideLayouts/slideLayout2.xml"/><Relationship Id="rId5" Type="http://schemas.openxmlformats.org/officeDocument/2006/relationships/hyperlink" Target="https://git.lohika.com/qa-automation/qa-automation-demo/tree/master/WebDriver" TargetMode="External"/><Relationship Id="rId4" Type="http://schemas.openxmlformats.org/officeDocument/2006/relationships/hyperlink" Target="http://git-scm.com/download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BrandLohika\lohika_presentation\Presentation Lohika_back2-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503" y="0"/>
            <a:ext cx="9252520" cy="693830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686514" y="4221088"/>
            <a:ext cx="7772400" cy="2376264"/>
          </a:xfrm>
        </p:spPr>
        <p:txBody>
          <a:bodyPr>
            <a:normAutofit/>
          </a:bodyPr>
          <a:lstStyle/>
          <a:p>
            <a:r>
              <a:rPr lang="en-US" sz="2400" b="1" dirty="0" smtClean="0">
                <a:solidFill>
                  <a:schemeClr val="bg1"/>
                </a:solidFill>
                <a:latin typeface="Verdana" panose="020B0604030504040204" pitchFamily="34" charset="0"/>
                <a:ea typeface="Verdana" panose="020B0604030504040204" pitchFamily="34" charset="0"/>
                <a:cs typeface="Verdana" panose="020B0604030504040204" pitchFamily="34" charset="0"/>
              </a:rPr>
              <a:t>Web App QA Automation </a:t>
            </a:r>
            <a:r>
              <a:rPr lang="en-US" sz="2400" b="1" dirty="0" smtClean="0">
                <a:solidFill>
                  <a:schemeClr val="bg1"/>
                </a:solidFill>
                <a:latin typeface="Verdana" panose="020B0604030504040204" pitchFamily="34" charset="0"/>
                <a:ea typeface="Verdana" panose="020B0604030504040204" pitchFamily="34" charset="0"/>
                <a:cs typeface="Verdana" panose="020B0604030504040204" pitchFamily="34" charset="0"/>
              </a:rPr>
              <a:t>Demo</a:t>
            </a:r>
            <a:br>
              <a:rPr lang="en-US" sz="2400" b="1" dirty="0" smtClean="0">
                <a:solidFill>
                  <a:schemeClr val="bg1"/>
                </a:solidFill>
                <a:latin typeface="Verdana" panose="020B0604030504040204" pitchFamily="34" charset="0"/>
                <a:ea typeface="Verdana" panose="020B0604030504040204" pitchFamily="34" charset="0"/>
                <a:cs typeface="Verdana" panose="020B0604030504040204" pitchFamily="34" charset="0"/>
              </a:rPr>
            </a:br>
            <a:r>
              <a:rPr lang="en-US" sz="2400" b="1"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r>
            <a:br>
              <a:rPr lang="en-US" sz="2400" b="1" dirty="0" smtClean="0">
                <a:solidFill>
                  <a:schemeClr val="bg1"/>
                </a:solidFill>
                <a:latin typeface="Verdana" panose="020B0604030504040204" pitchFamily="34" charset="0"/>
                <a:ea typeface="Verdana" panose="020B0604030504040204" pitchFamily="34" charset="0"/>
                <a:cs typeface="Verdana" panose="020B0604030504040204" pitchFamily="34" charset="0"/>
              </a:rPr>
            </a:br>
            <a:r>
              <a:rPr lang="en-US" sz="1800" dirty="0" smtClean="0">
                <a:solidFill>
                  <a:schemeClr val="bg1"/>
                </a:solidFill>
                <a:latin typeface="Verdana" panose="020B0604030504040204" pitchFamily="34" charset="0"/>
                <a:ea typeface="Verdana" panose="020B0604030504040204" pitchFamily="34" charset="0"/>
                <a:cs typeface="Verdana" panose="020B0604030504040204" pitchFamily="34" charset="0"/>
              </a:rPr>
              <a:t>Sergey Pogodin</a:t>
            </a:r>
            <a:r>
              <a:rPr lang="en-US" sz="180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r>
            <a:br>
              <a:rPr lang="en-US" sz="1800" dirty="0" smtClean="0">
                <a:solidFill>
                  <a:schemeClr val="bg1"/>
                </a:solidFill>
                <a:latin typeface="Verdana" panose="020B0604030504040204" pitchFamily="34" charset="0"/>
                <a:ea typeface="Verdana" panose="020B0604030504040204" pitchFamily="34" charset="0"/>
                <a:cs typeface="Verdana" panose="020B0604030504040204" pitchFamily="34" charset="0"/>
              </a:rPr>
            </a:br>
            <a:r>
              <a:rPr lang="en-US" sz="1800" dirty="0" smtClean="0">
                <a:solidFill>
                  <a:schemeClr val="bg1"/>
                </a:solidFill>
                <a:latin typeface="Verdana" panose="020B0604030504040204" pitchFamily="34" charset="0"/>
                <a:ea typeface="Verdana" panose="020B0604030504040204" pitchFamily="34" charset="0"/>
                <a:cs typeface="Verdana" panose="020B0604030504040204" pitchFamily="34" charset="0"/>
              </a:rPr>
              <a:t>December, 2014</a:t>
            </a:r>
            <a:r>
              <a:rPr lang="en-US" sz="2000" b="1"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r>
            <a:br>
              <a:rPr lang="en-US" sz="2000" b="1" dirty="0" smtClean="0">
                <a:solidFill>
                  <a:schemeClr val="bg1"/>
                </a:solidFill>
                <a:latin typeface="Verdana" panose="020B0604030504040204" pitchFamily="34" charset="0"/>
                <a:ea typeface="Verdana" panose="020B0604030504040204" pitchFamily="34" charset="0"/>
                <a:cs typeface="Verdana" panose="020B0604030504040204" pitchFamily="34" charset="0"/>
              </a:rPr>
            </a:br>
            <a:endParaRPr lang="uk-UA" sz="2400" b="1" i="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7154947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Agenda</a:t>
            </a:r>
            <a:endParaRPr lang="en-US" dirty="0"/>
          </a:p>
        </p:txBody>
      </p:sp>
      <p:sp>
        <p:nvSpPr>
          <p:cNvPr id="3" name="Content Placeholder 2"/>
          <p:cNvSpPr>
            <a:spLocks noGrp="1"/>
          </p:cNvSpPr>
          <p:nvPr>
            <p:ph idx="1"/>
          </p:nvPr>
        </p:nvSpPr>
        <p:spPr>
          <a:xfrm>
            <a:off x="899592" y="1628800"/>
            <a:ext cx="8092008" cy="4497363"/>
          </a:xfrm>
        </p:spPr>
        <p:txBody>
          <a:bodyPr/>
          <a:lstStyle/>
          <a:p>
            <a:r>
              <a:rPr lang="en-US" dirty="0" smtClean="0"/>
              <a:t>Project goal</a:t>
            </a:r>
            <a:endParaRPr lang="en-US" dirty="0" smtClean="0"/>
          </a:p>
          <a:p>
            <a:r>
              <a:rPr lang="en-US" dirty="0" smtClean="0"/>
              <a:t>Solution</a:t>
            </a:r>
          </a:p>
          <a:p>
            <a:r>
              <a:rPr lang="en-US" dirty="0" smtClean="0"/>
              <a:t>Technical details</a:t>
            </a:r>
          </a:p>
          <a:p>
            <a:r>
              <a:rPr lang="en-US" dirty="0" smtClean="0"/>
              <a:t>Comparison with other technologies</a:t>
            </a:r>
          </a:p>
          <a:p>
            <a:r>
              <a:rPr lang="en-US" dirty="0" smtClean="0"/>
              <a:t>System diagram</a:t>
            </a:r>
          </a:p>
          <a:p>
            <a:r>
              <a:rPr lang="en-US" dirty="0" smtClean="0"/>
              <a:t>Links / How to run</a:t>
            </a:r>
            <a:endParaRPr lang="en-US" dirty="0"/>
          </a:p>
        </p:txBody>
      </p:sp>
    </p:spTree>
    <p:extLst>
      <p:ext uri="{BB962C8B-B14F-4D97-AF65-F5344CB8AC3E}">
        <p14:creationId xmlns:p14="http://schemas.microsoft.com/office/powerpoint/2010/main" val="18590472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2400"/>
            <a:ext cx="7488832" cy="940966"/>
          </a:xfrm>
        </p:spPr>
        <p:txBody>
          <a:bodyPr/>
          <a:lstStyle/>
          <a:p>
            <a:r>
              <a:rPr lang="en-US" sz="4000" dirty="0" smtClean="0"/>
              <a:t>Project</a:t>
            </a:r>
            <a:r>
              <a:rPr lang="en-US" dirty="0" smtClean="0"/>
              <a:t> Goal</a:t>
            </a:r>
            <a:endParaRPr lang="en-US" dirty="0"/>
          </a:p>
        </p:txBody>
      </p:sp>
      <p:sp>
        <p:nvSpPr>
          <p:cNvPr id="3" name="Content Placeholder 2"/>
          <p:cNvSpPr>
            <a:spLocks noGrp="1"/>
          </p:cNvSpPr>
          <p:nvPr>
            <p:ph idx="1"/>
          </p:nvPr>
        </p:nvSpPr>
        <p:spPr>
          <a:xfrm>
            <a:off x="899592" y="1143000"/>
            <a:ext cx="7488832" cy="4497363"/>
          </a:xfrm>
        </p:spPr>
        <p:txBody>
          <a:bodyPr/>
          <a:lstStyle/>
          <a:p>
            <a:pPr marL="0" indent="0">
              <a:buNone/>
            </a:pPr>
            <a:r>
              <a:rPr lang="en-US" dirty="0" smtClean="0"/>
              <a:t>Show one of the most optimal solution for the moment to Automate Test scenarios for Web application</a:t>
            </a:r>
            <a:endParaRPr lang="en-US" dirty="0" smtClean="0"/>
          </a:p>
        </p:txBody>
      </p:sp>
    </p:spTree>
    <p:extLst>
      <p:ext uri="{BB962C8B-B14F-4D97-AF65-F5344CB8AC3E}">
        <p14:creationId xmlns:p14="http://schemas.microsoft.com/office/powerpoint/2010/main" val="39707098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76200"/>
            <a:ext cx="6512511" cy="1143000"/>
          </a:xfrm>
        </p:spPr>
        <p:txBody>
          <a:bodyPr/>
          <a:lstStyle/>
          <a:p>
            <a:r>
              <a:rPr lang="en-US" sz="4000" dirty="0" smtClean="0"/>
              <a:t>Solution</a:t>
            </a:r>
            <a:endParaRPr lang="en-US" dirty="0"/>
          </a:p>
        </p:txBody>
      </p:sp>
      <p:sp>
        <p:nvSpPr>
          <p:cNvPr id="3" name="Content Placeholder 2"/>
          <p:cNvSpPr>
            <a:spLocks noGrp="1"/>
          </p:cNvSpPr>
          <p:nvPr>
            <p:ph idx="1"/>
          </p:nvPr>
        </p:nvSpPr>
        <p:spPr>
          <a:xfrm>
            <a:off x="1143000" y="1066800"/>
            <a:ext cx="7620000" cy="4191000"/>
          </a:xfrm>
        </p:spPr>
        <p:txBody>
          <a:bodyPr>
            <a:normAutofit/>
          </a:bodyPr>
          <a:lstStyle/>
          <a:p>
            <a:pPr>
              <a:buClr>
                <a:srgbClr val="00B050"/>
              </a:buClr>
              <a:buFont typeface="Wingdings" panose="05000000000000000000" pitchFamily="2" charset="2"/>
              <a:buChar char="ü"/>
            </a:pPr>
            <a:r>
              <a:rPr lang="en-US" sz="2400" dirty="0" smtClean="0"/>
              <a:t>Selenium </a:t>
            </a:r>
            <a:r>
              <a:rPr lang="en-US" sz="2400" dirty="0" err="1" smtClean="0"/>
              <a:t>Webdriver</a:t>
            </a:r>
            <a:r>
              <a:rPr lang="en-US" sz="2400" dirty="0" smtClean="0"/>
              <a:t> (cross-platform tool for automation testing)</a:t>
            </a:r>
          </a:p>
          <a:p>
            <a:pPr>
              <a:buClr>
                <a:srgbClr val="00B050"/>
              </a:buClr>
              <a:buFont typeface="Wingdings" panose="05000000000000000000" pitchFamily="2" charset="2"/>
              <a:buChar char="ü"/>
            </a:pPr>
            <a:r>
              <a:rPr lang="en-US" sz="2400" dirty="0" smtClean="0"/>
              <a:t>Page object and page factory patterns for </a:t>
            </a:r>
            <a:r>
              <a:rPr lang="en-US" sz="2400" dirty="0" err="1" smtClean="0"/>
              <a:t>WebDriver</a:t>
            </a:r>
            <a:endParaRPr lang="en-US" sz="2400" dirty="0" smtClean="0"/>
          </a:p>
          <a:p>
            <a:pPr>
              <a:buClr>
                <a:srgbClr val="00B050"/>
              </a:buClr>
              <a:buFont typeface="Wingdings" panose="05000000000000000000" pitchFamily="2" charset="2"/>
              <a:buChar char="ü"/>
            </a:pPr>
            <a:r>
              <a:rPr lang="en-US" sz="2400" dirty="0" smtClean="0"/>
              <a:t>Cucumber (library for tests execution, written in Gherkin language)</a:t>
            </a:r>
          </a:p>
          <a:p>
            <a:pPr>
              <a:buClr>
                <a:srgbClr val="00B050"/>
              </a:buClr>
              <a:buFont typeface="Wingdings" panose="05000000000000000000" pitchFamily="2" charset="2"/>
              <a:buChar char="ü"/>
            </a:pPr>
            <a:r>
              <a:rPr lang="en-US" sz="2400" dirty="0" smtClean="0"/>
              <a:t>XSLT transformation (transformation of xml report into html format)</a:t>
            </a:r>
          </a:p>
          <a:p>
            <a:pPr>
              <a:buClr>
                <a:srgbClr val="00B050"/>
              </a:buClr>
              <a:buFont typeface="Wingdings" panose="05000000000000000000" pitchFamily="2" charset="2"/>
              <a:buChar char="ü"/>
            </a:pPr>
            <a:r>
              <a:rPr lang="en-US" sz="2400" dirty="0" smtClean="0"/>
              <a:t>Log4j (library for logging)</a:t>
            </a:r>
          </a:p>
          <a:p>
            <a:pPr>
              <a:buClr>
                <a:srgbClr val="00B050"/>
              </a:buClr>
              <a:buFont typeface="Wingdings" panose="05000000000000000000" pitchFamily="2" charset="2"/>
              <a:buChar char="ü"/>
            </a:pPr>
            <a:endParaRPr lang="en-US" dirty="0"/>
          </a:p>
        </p:txBody>
      </p:sp>
    </p:spTree>
    <p:extLst>
      <p:ext uri="{BB962C8B-B14F-4D97-AF65-F5344CB8AC3E}">
        <p14:creationId xmlns:p14="http://schemas.microsoft.com/office/powerpoint/2010/main" val="29116573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39486"/>
            <a:ext cx="6512511" cy="1189037"/>
          </a:xfrm>
        </p:spPr>
        <p:txBody>
          <a:bodyPr>
            <a:normAutofit fontScale="90000"/>
          </a:bodyPr>
          <a:lstStyle/>
          <a:p>
            <a:r>
              <a:rPr lang="en-US" dirty="0"/>
              <a:t>Technical </a:t>
            </a:r>
            <a:r>
              <a:rPr lang="en-US" dirty="0"/>
              <a:t>D</a:t>
            </a:r>
            <a:r>
              <a:rPr lang="en-US" dirty="0" smtClean="0"/>
              <a:t>etails</a:t>
            </a:r>
            <a:r>
              <a:rPr lang="en-US" dirty="0" smtClean="0"/>
              <a:t/>
            </a:r>
            <a:br>
              <a:rPr lang="en-US" dirty="0" smtClean="0"/>
            </a:br>
            <a:r>
              <a:rPr lang="en-US" sz="4000" dirty="0">
                <a:solidFill>
                  <a:srgbClr val="0070C0"/>
                </a:solidFill>
              </a:rPr>
              <a:t>Selenium</a:t>
            </a:r>
          </a:p>
        </p:txBody>
      </p:sp>
      <p:sp>
        <p:nvSpPr>
          <p:cNvPr id="3" name="Content Placeholder 2"/>
          <p:cNvSpPr>
            <a:spLocks noGrp="1"/>
          </p:cNvSpPr>
          <p:nvPr>
            <p:ph idx="1"/>
          </p:nvPr>
        </p:nvSpPr>
        <p:spPr>
          <a:xfrm>
            <a:off x="457200" y="1417637"/>
            <a:ext cx="6172200" cy="4525963"/>
          </a:xfrm>
        </p:spPr>
        <p:txBody>
          <a:bodyPr>
            <a:normAutofit fontScale="70000" lnSpcReduction="20000"/>
          </a:bodyPr>
          <a:lstStyle/>
          <a:p>
            <a:pPr>
              <a:buClr>
                <a:srgbClr val="00B050"/>
              </a:buClr>
              <a:buFont typeface="Wingdings" panose="05000000000000000000" pitchFamily="2" charset="2"/>
              <a:buChar char="ü"/>
            </a:pPr>
            <a:r>
              <a:rPr lang="en-US" dirty="0" smtClean="0"/>
              <a:t>Universal cross-platform and cross-language solution for Web (including HTML5), Mobile and Desktop automation</a:t>
            </a:r>
          </a:p>
          <a:p>
            <a:pPr>
              <a:buClr>
                <a:srgbClr val="00B050"/>
              </a:buClr>
              <a:buFont typeface="Wingdings" panose="05000000000000000000" pitchFamily="2" charset="2"/>
              <a:buChar char="ü"/>
            </a:pPr>
            <a:r>
              <a:rPr lang="en-US" u="sng" dirty="0" smtClean="0"/>
              <a:t>Industry standard for Web Automation</a:t>
            </a:r>
          </a:p>
          <a:p>
            <a:pPr>
              <a:buClr>
                <a:srgbClr val="00B050"/>
              </a:buClr>
              <a:buFont typeface="Wingdings" panose="05000000000000000000" pitchFamily="2" charset="2"/>
              <a:buChar char="ü"/>
            </a:pPr>
            <a:r>
              <a:rPr lang="en-US" dirty="0" smtClean="0"/>
              <a:t>Reusable modules as </a:t>
            </a:r>
            <a:r>
              <a:rPr lang="en-US" dirty="0" err="1" smtClean="0"/>
              <a:t>PageObject</a:t>
            </a:r>
            <a:r>
              <a:rPr lang="en-US" dirty="0" smtClean="0"/>
              <a:t>, Actions, Factories, data processing, object handling utilities, etc.</a:t>
            </a:r>
          </a:p>
          <a:p>
            <a:pPr>
              <a:buClr>
                <a:srgbClr val="00B050"/>
              </a:buClr>
              <a:buFont typeface="Wingdings" panose="05000000000000000000" pitchFamily="2" charset="2"/>
              <a:buChar char="ü"/>
            </a:pPr>
            <a:r>
              <a:rPr lang="en-US" dirty="0" smtClean="0"/>
              <a:t>Easy to implement data-driven tests</a:t>
            </a:r>
          </a:p>
          <a:p>
            <a:pPr>
              <a:buClr>
                <a:srgbClr val="00B050"/>
              </a:buClr>
              <a:buFont typeface="Wingdings" panose="05000000000000000000" pitchFamily="2" charset="2"/>
              <a:buChar char="ü"/>
            </a:pPr>
            <a:r>
              <a:rPr lang="en-US" dirty="0" smtClean="0"/>
              <a:t>Ability to use huge variety of 3</a:t>
            </a:r>
            <a:r>
              <a:rPr lang="en-US" baseline="30000" dirty="0" smtClean="0"/>
              <a:t>rd</a:t>
            </a:r>
            <a:r>
              <a:rPr lang="en-US" dirty="0" smtClean="0"/>
              <a:t> party libs and tools due to support of most popular programming languages</a:t>
            </a:r>
          </a:p>
          <a:p>
            <a:pPr>
              <a:buClr>
                <a:srgbClr val="00B050"/>
              </a:buClr>
              <a:buFont typeface="Wingdings" panose="05000000000000000000" pitchFamily="2" charset="2"/>
              <a:buChar char="ü"/>
            </a:pPr>
            <a:r>
              <a:rPr lang="en-US" dirty="0" smtClean="0"/>
              <a:t>Easy integration with CI</a:t>
            </a:r>
          </a:p>
          <a:p>
            <a:pPr>
              <a:buClr>
                <a:srgbClr val="00B050"/>
              </a:buClr>
              <a:buFont typeface="Wingdings" panose="05000000000000000000" pitchFamily="2" charset="2"/>
              <a:buChar char="ü"/>
            </a:pPr>
            <a:r>
              <a:rPr lang="en-US" dirty="0" smtClean="0"/>
              <a:t>Explicit wait by certain event and configurable Implicit wait</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5283" y="1515905"/>
            <a:ext cx="2113917" cy="1913095"/>
          </a:xfrm>
          <a:prstGeom prst="rect">
            <a:avLst/>
          </a:prstGeom>
        </p:spPr>
      </p:pic>
    </p:spTree>
    <p:extLst>
      <p:ext uri="{BB962C8B-B14F-4D97-AF65-F5344CB8AC3E}">
        <p14:creationId xmlns:p14="http://schemas.microsoft.com/office/powerpoint/2010/main" val="185703367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76200"/>
            <a:ext cx="7488832" cy="685800"/>
          </a:xfrm>
        </p:spPr>
        <p:txBody>
          <a:bodyPr>
            <a:normAutofit fontScale="90000"/>
          </a:bodyPr>
          <a:lstStyle/>
          <a:p>
            <a:r>
              <a:rPr lang="en-US" dirty="0" smtClean="0"/>
              <a:t>Page object and Page factory</a:t>
            </a:r>
            <a:endParaRPr lang="en-US" dirty="0"/>
          </a:p>
        </p:txBody>
      </p:sp>
      <p:sp>
        <p:nvSpPr>
          <p:cNvPr id="3" name="Content Placeholder 2"/>
          <p:cNvSpPr>
            <a:spLocks noGrp="1"/>
          </p:cNvSpPr>
          <p:nvPr>
            <p:ph idx="1"/>
          </p:nvPr>
        </p:nvSpPr>
        <p:spPr>
          <a:xfrm>
            <a:off x="899592" y="762001"/>
            <a:ext cx="7488832" cy="4648200"/>
          </a:xfrm>
        </p:spPr>
        <p:txBody>
          <a:bodyPr/>
          <a:lstStyle/>
          <a:p>
            <a:pPr>
              <a:buClr>
                <a:srgbClr val="00B050"/>
              </a:buClr>
              <a:buFont typeface="Wingdings" panose="05000000000000000000" pitchFamily="2" charset="2"/>
              <a:buChar char="ü"/>
            </a:pPr>
            <a:r>
              <a:rPr lang="en-US" sz="1800" dirty="0"/>
              <a:t>Clear separation between test code and navigation code in code base</a:t>
            </a:r>
          </a:p>
          <a:p>
            <a:pPr>
              <a:buClr>
                <a:srgbClr val="00B050"/>
              </a:buClr>
              <a:buFont typeface="Wingdings" panose="05000000000000000000" pitchFamily="2" charset="2"/>
              <a:buChar char="ü"/>
            </a:pPr>
            <a:r>
              <a:rPr lang="en-US" sz="1800" dirty="0"/>
              <a:t>Makes tests more readable</a:t>
            </a:r>
            <a:endParaRPr lang="en-US" sz="1800" dirty="0" smtClean="0"/>
          </a:p>
          <a:p>
            <a:pPr>
              <a:buClr>
                <a:srgbClr val="00B050"/>
              </a:buClr>
              <a:buFont typeface="Wingdings" panose="05000000000000000000" pitchFamily="2" charset="2"/>
              <a:buChar char="ü"/>
            </a:pPr>
            <a:r>
              <a:rPr lang="en-US" sz="1800" dirty="0"/>
              <a:t>Ease of maintenance, when UI changes you need to change the navigation code and not test (provided application logic is still the same and only UI object/navigation is changed</a:t>
            </a:r>
            <a:r>
              <a:rPr lang="en-US" sz="1800" dirty="0" smtClean="0"/>
              <a:t>)</a:t>
            </a:r>
          </a:p>
          <a:p>
            <a:pPr>
              <a:buClr>
                <a:srgbClr val="00B050"/>
              </a:buClr>
              <a:buFont typeface="Wingdings" panose="05000000000000000000" pitchFamily="2" charset="2"/>
              <a:buChar char="ü"/>
            </a:pPr>
            <a:r>
              <a:rPr lang="en-US" sz="1800" dirty="0"/>
              <a:t>Just looking into the method name gives you all idea about the capabilities of the </a:t>
            </a:r>
            <a:r>
              <a:rPr lang="en-US" sz="1800" dirty="0" smtClean="0"/>
              <a:t>method</a:t>
            </a:r>
          </a:p>
          <a:p>
            <a:pPr>
              <a:buClr>
                <a:srgbClr val="00B050"/>
              </a:buClr>
              <a:buFont typeface="Wingdings" panose="05000000000000000000" pitchFamily="2" charset="2"/>
              <a:buChar char="ü"/>
            </a:pPr>
            <a:r>
              <a:rPr lang="en-US" sz="1800" dirty="0"/>
              <a:t>Easy creation of new tests. In fact, tests can be created by a person not knowing the features of automation </a:t>
            </a:r>
            <a:r>
              <a:rPr lang="en-US" sz="1800" dirty="0" smtClean="0"/>
              <a:t>tools</a:t>
            </a:r>
          </a:p>
          <a:p>
            <a:pPr>
              <a:buClr>
                <a:srgbClr val="00B050"/>
              </a:buClr>
              <a:buFont typeface="Wingdings" panose="05000000000000000000" pitchFamily="2" charset="2"/>
              <a:buChar char="ü"/>
            </a:pPr>
            <a:r>
              <a:rPr lang="en-US" sz="1800" dirty="0"/>
              <a:t>Good support of tests, because everything is stored in one place</a:t>
            </a:r>
            <a:endParaRPr lang="en-US" sz="1800" dirty="0" smtClean="0"/>
          </a:p>
          <a:p>
            <a:pPr marL="0" indent="0">
              <a:buNone/>
            </a:pPr>
            <a:r>
              <a:rPr lang="en-US" sz="1800" b="1" u="sng" dirty="0"/>
              <a:t>Cons</a:t>
            </a:r>
            <a:r>
              <a:rPr lang="en-US" sz="1800" dirty="0"/>
              <a:t>: </a:t>
            </a:r>
          </a:p>
          <a:p>
            <a:pPr>
              <a:buClr>
                <a:srgbClr val="FF0000"/>
              </a:buClr>
              <a:buFont typeface="Wingdings" panose="05000000000000000000" pitchFamily="2" charset="2"/>
              <a:buChar char="ü"/>
            </a:pPr>
            <a:r>
              <a:rPr lang="en-US" sz="1800" dirty="0" smtClean="0"/>
              <a:t>Initial </a:t>
            </a:r>
            <a:r>
              <a:rPr lang="en-US" sz="1800" dirty="0"/>
              <a:t>design of page object might take more </a:t>
            </a:r>
            <a:r>
              <a:rPr lang="en-US" sz="1800" dirty="0" smtClean="0"/>
              <a:t>time</a:t>
            </a:r>
          </a:p>
          <a:p>
            <a:pPr>
              <a:buClr>
                <a:srgbClr val="FF0000"/>
              </a:buClr>
              <a:buFont typeface="Wingdings" panose="05000000000000000000" pitchFamily="2" charset="2"/>
              <a:buChar char="ü"/>
            </a:pPr>
            <a:r>
              <a:rPr lang="en-US" sz="1800" dirty="0"/>
              <a:t>All locators should be kept in page class file</a:t>
            </a:r>
          </a:p>
          <a:p>
            <a:pPr marL="0" indent="0">
              <a:buClr>
                <a:srgbClr val="00B050"/>
              </a:buClr>
              <a:buNone/>
            </a:pPr>
            <a:endParaRPr lang="en-US" sz="2000" dirty="0"/>
          </a:p>
          <a:p>
            <a:pPr marL="0" indent="0">
              <a:buNone/>
            </a:pPr>
            <a:endParaRPr lang="en-US" dirty="0"/>
          </a:p>
        </p:txBody>
      </p:sp>
    </p:spTree>
    <p:extLst>
      <p:ext uri="{BB962C8B-B14F-4D97-AF65-F5344CB8AC3E}">
        <p14:creationId xmlns:p14="http://schemas.microsoft.com/office/powerpoint/2010/main" val="1018734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914400" y="1371600"/>
            <a:ext cx="7488832" cy="4421163"/>
          </a:xfrm>
        </p:spPr>
        <p:txBody>
          <a:bodyPr wrap="square">
            <a:normAutofit/>
          </a:bodyPr>
          <a:lstStyle/>
          <a:p>
            <a:pPr>
              <a:buClr>
                <a:srgbClr val="00B050"/>
              </a:buClr>
              <a:buFont typeface="Wingdings" panose="05000000000000000000" pitchFamily="2" charset="2"/>
              <a:buChar char="ü"/>
            </a:pPr>
            <a:r>
              <a:rPr lang="en-US" sz="2400" dirty="0" smtClean="0"/>
              <a:t>Supports </a:t>
            </a:r>
            <a:r>
              <a:rPr lang="en-US" sz="2400" dirty="0"/>
              <a:t>Gherkin language to define steps which makes it easy and natural to create specification</a:t>
            </a:r>
            <a:endParaRPr lang="en-US" sz="2400" dirty="0" smtClean="0"/>
          </a:p>
          <a:p>
            <a:pPr>
              <a:buClr>
                <a:srgbClr val="00B050"/>
              </a:buClr>
              <a:buFont typeface="Wingdings" panose="05000000000000000000" pitchFamily="2" charset="2"/>
              <a:buChar char="ü"/>
            </a:pPr>
            <a:r>
              <a:rPr lang="en-US" sz="2400" dirty="0"/>
              <a:t>Supports many languages and platforms</a:t>
            </a:r>
            <a:endParaRPr lang="en-US" sz="2400" dirty="0" smtClean="0"/>
          </a:p>
          <a:p>
            <a:pPr>
              <a:buClr>
                <a:srgbClr val="00B050"/>
              </a:buClr>
              <a:buFont typeface="Wingdings" panose="05000000000000000000" pitchFamily="2" charset="2"/>
              <a:buChar char="ü"/>
            </a:pPr>
            <a:r>
              <a:rPr lang="en-US" sz="2400" dirty="0"/>
              <a:t>Steps are </a:t>
            </a:r>
            <a:r>
              <a:rPr lang="en-US" sz="2400" b="1" dirty="0"/>
              <a:t>reusable</a:t>
            </a:r>
            <a:r>
              <a:rPr lang="en-US" sz="2400" dirty="0"/>
              <a:t> across whole tested applications</a:t>
            </a:r>
            <a:endParaRPr lang="en-US" sz="2400" dirty="0" smtClean="0"/>
          </a:p>
          <a:p>
            <a:pPr>
              <a:buClr>
                <a:srgbClr val="00B050"/>
              </a:buClr>
              <a:buFont typeface="Wingdings" panose="05000000000000000000" pitchFamily="2" charset="2"/>
              <a:buChar char="ü"/>
            </a:pPr>
            <a:r>
              <a:rPr lang="en-US" sz="2400" dirty="0" smtClean="0"/>
              <a:t>Generates </a:t>
            </a:r>
            <a:r>
              <a:rPr lang="en-US" sz="2400" dirty="0"/>
              <a:t>HTML and JSON </a:t>
            </a:r>
            <a:r>
              <a:rPr lang="en-US" sz="2400" dirty="0" smtClean="0"/>
              <a:t>reports</a:t>
            </a:r>
          </a:p>
          <a:p>
            <a:pPr>
              <a:buClr>
                <a:srgbClr val="00B050"/>
              </a:buClr>
              <a:buFont typeface="Wingdings" panose="05000000000000000000" pitchFamily="2" charset="2"/>
              <a:buChar char="ü"/>
            </a:pPr>
            <a:r>
              <a:rPr lang="en-US" sz="2400" dirty="0" smtClean="0"/>
              <a:t>Steps are easy to understand for all and easy to parse by automation</a:t>
            </a:r>
          </a:p>
          <a:p>
            <a:pPr>
              <a:buFont typeface="Wingdings" panose="05000000000000000000" pitchFamily="2" charset="2"/>
              <a:buChar char="ü"/>
            </a:pPr>
            <a:endParaRPr lang="en-US" sz="2400" dirty="0"/>
          </a:p>
        </p:txBody>
      </p:sp>
      <p:pic>
        <p:nvPicPr>
          <p:cNvPr id="8"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5200" y="34834"/>
            <a:ext cx="2057400" cy="626166"/>
          </a:xfrm>
          <a:prstGeom prst="rect">
            <a:avLst/>
          </a:prstGeom>
        </p:spPr>
      </p:pic>
    </p:spTree>
    <p:extLst>
      <p:ext uri="{BB962C8B-B14F-4D97-AF65-F5344CB8AC3E}">
        <p14:creationId xmlns:p14="http://schemas.microsoft.com/office/powerpoint/2010/main" val="308947651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76200"/>
            <a:ext cx="7488832" cy="609600"/>
          </a:xfrm>
        </p:spPr>
        <p:txBody>
          <a:bodyPr>
            <a:normAutofit fontScale="90000"/>
          </a:bodyPr>
          <a:lstStyle/>
          <a:p>
            <a:r>
              <a:rPr lang="en-US" dirty="0" smtClean="0"/>
              <a:t>XSLT transformation</a:t>
            </a:r>
            <a:endParaRPr lang="en-US" dirty="0"/>
          </a:p>
        </p:txBody>
      </p:sp>
      <p:sp>
        <p:nvSpPr>
          <p:cNvPr id="3" name="Content Placeholder 2"/>
          <p:cNvSpPr>
            <a:spLocks noGrp="1"/>
          </p:cNvSpPr>
          <p:nvPr>
            <p:ph idx="1"/>
          </p:nvPr>
        </p:nvSpPr>
        <p:spPr>
          <a:xfrm>
            <a:off x="899592" y="685801"/>
            <a:ext cx="7488832" cy="5181600"/>
          </a:xfrm>
        </p:spPr>
        <p:txBody>
          <a:bodyPr>
            <a:normAutofit/>
          </a:bodyPr>
          <a:lstStyle/>
          <a:p>
            <a:pPr>
              <a:buClr>
                <a:srgbClr val="00B050"/>
              </a:buClr>
              <a:buFont typeface="Wingdings" panose="05000000000000000000" pitchFamily="2" charset="2"/>
              <a:buChar char="ü"/>
            </a:pPr>
            <a:r>
              <a:rPr lang="en-US" sz="1600" dirty="0"/>
              <a:t>XSLT applies user defined transformations to an XML document and the output can be HTML, XML, or any other structured document. So it is easy to merge XML data into presentation</a:t>
            </a:r>
          </a:p>
          <a:p>
            <a:pPr>
              <a:buClr>
                <a:srgbClr val="00B050"/>
              </a:buClr>
              <a:buFont typeface="Wingdings" panose="05000000000000000000" pitchFamily="2" charset="2"/>
              <a:buChar char="ü"/>
            </a:pPr>
            <a:r>
              <a:rPr lang="en-US" sz="1600" dirty="0"/>
              <a:t>By separating data (XML document) from the presentation (XSLT), it is very easy to change the output format in any time easily without touching the code-behind</a:t>
            </a:r>
          </a:p>
          <a:p>
            <a:pPr>
              <a:buClr>
                <a:srgbClr val="00B050"/>
              </a:buClr>
              <a:buFont typeface="Wingdings" panose="05000000000000000000" pitchFamily="2" charset="2"/>
              <a:buChar char="ü"/>
            </a:pPr>
            <a:r>
              <a:rPr lang="en-US" sz="1600" dirty="0"/>
              <a:t>XSLT templates are based on XPath pattern which is very powerful in terms of performance to process the XML document</a:t>
            </a:r>
          </a:p>
          <a:p>
            <a:pPr>
              <a:buClr>
                <a:srgbClr val="00B050"/>
              </a:buClr>
              <a:buFont typeface="Wingdings" panose="05000000000000000000" pitchFamily="2" charset="2"/>
              <a:buChar char="ü"/>
            </a:pPr>
            <a:r>
              <a:rPr lang="en-US" sz="1600" dirty="0"/>
              <a:t>XML is platform independent</a:t>
            </a:r>
          </a:p>
          <a:p>
            <a:pPr>
              <a:buClr>
                <a:srgbClr val="00B050"/>
              </a:buClr>
              <a:buFont typeface="Wingdings" panose="05000000000000000000" pitchFamily="2" charset="2"/>
              <a:buChar char="ü"/>
            </a:pPr>
            <a:r>
              <a:rPr lang="en-US" sz="1600" dirty="0"/>
              <a:t>XML has column flexibility, so it can be </a:t>
            </a:r>
            <a:r>
              <a:rPr lang="en-US" sz="1600" dirty="0" smtClean="0"/>
              <a:t>updated </a:t>
            </a:r>
            <a:r>
              <a:rPr lang="en-US" sz="1600" dirty="0"/>
              <a:t>easily rather than a traditional table-row-column </a:t>
            </a:r>
            <a:r>
              <a:rPr lang="en-US" sz="1600" dirty="0" smtClean="0"/>
              <a:t>approach</a:t>
            </a:r>
          </a:p>
          <a:p>
            <a:pPr>
              <a:buClr>
                <a:srgbClr val="00B050"/>
              </a:buClr>
              <a:buFont typeface="Wingdings" panose="05000000000000000000" pitchFamily="2" charset="2"/>
              <a:buChar char="ü"/>
            </a:pPr>
            <a:r>
              <a:rPr lang="en-US" sz="1600" dirty="0" smtClean="0"/>
              <a:t>It’s easy to build a well formatted report using XSLT transformation from XML into HTML</a:t>
            </a:r>
          </a:p>
          <a:p>
            <a:pPr marL="0" indent="0">
              <a:buNone/>
            </a:pPr>
            <a:r>
              <a:rPr lang="en-US" sz="1600" b="1" u="sng" dirty="0"/>
              <a:t>Cons</a:t>
            </a:r>
            <a:r>
              <a:rPr lang="en-US" sz="1600" dirty="0"/>
              <a:t>: </a:t>
            </a:r>
          </a:p>
          <a:p>
            <a:pPr>
              <a:buClr>
                <a:srgbClr val="FF0000"/>
              </a:buClr>
              <a:buFont typeface="Wingdings" panose="05000000000000000000" pitchFamily="2" charset="2"/>
              <a:buChar char="ü"/>
            </a:pPr>
            <a:r>
              <a:rPr lang="en-US" sz="1600" dirty="0"/>
              <a:t>It is difficult to implement complicate business rules in XSLT</a:t>
            </a:r>
          </a:p>
          <a:p>
            <a:pPr>
              <a:buClr>
                <a:srgbClr val="FF0000"/>
              </a:buClr>
              <a:buFont typeface="Wingdings" panose="05000000000000000000" pitchFamily="2" charset="2"/>
              <a:buChar char="ü"/>
            </a:pPr>
            <a:r>
              <a:rPr lang="en-US" sz="1600" dirty="0"/>
              <a:t>Using XSLT have performance penalty in some cases as its engine don’t optimize code by using caching technique like traditional </a:t>
            </a:r>
            <a:r>
              <a:rPr lang="en-US" sz="1600" dirty="0" smtClean="0"/>
              <a:t>compiler</a:t>
            </a:r>
          </a:p>
          <a:p>
            <a:pPr>
              <a:buClr>
                <a:srgbClr val="FF0000"/>
              </a:buClr>
              <a:buFont typeface="Wingdings" panose="05000000000000000000" pitchFamily="2" charset="2"/>
              <a:buChar char="ü"/>
            </a:pPr>
            <a:r>
              <a:rPr lang="fr-FR" sz="1600" dirty="0"/>
              <a:t>XML encourage non-</a:t>
            </a:r>
            <a:r>
              <a:rPr lang="fr-FR" sz="1600" dirty="0" err="1"/>
              <a:t>relational</a:t>
            </a:r>
            <a:r>
              <a:rPr lang="fr-FR" sz="1600" dirty="0"/>
              <a:t> data structure(de-</a:t>
            </a:r>
            <a:r>
              <a:rPr lang="fr-FR" sz="1600" dirty="0" err="1"/>
              <a:t>normalized</a:t>
            </a:r>
            <a:r>
              <a:rPr lang="fr-FR" sz="1600" dirty="0"/>
              <a:t>)</a:t>
            </a:r>
            <a:endParaRPr lang="en-US" sz="1600" dirty="0"/>
          </a:p>
          <a:p>
            <a:pPr marL="0" indent="0">
              <a:buClr>
                <a:srgbClr val="00B050"/>
              </a:buClr>
              <a:buNone/>
            </a:pPr>
            <a:endParaRPr lang="en-US" sz="1600" dirty="0"/>
          </a:p>
          <a:p>
            <a:pPr marL="0" indent="0">
              <a:buNone/>
            </a:pPr>
            <a:endParaRPr lang="en-US" dirty="0"/>
          </a:p>
        </p:txBody>
      </p:sp>
    </p:spTree>
    <p:extLst>
      <p:ext uri="{BB962C8B-B14F-4D97-AF65-F5344CB8AC3E}">
        <p14:creationId xmlns:p14="http://schemas.microsoft.com/office/powerpoint/2010/main" val="2598181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152400"/>
            <a:ext cx="7488832" cy="533400"/>
          </a:xfrm>
        </p:spPr>
        <p:txBody>
          <a:bodyPr>
            <a:normAutofit fontScale="90000"/>
          </a:bodyPr>
          <a:lstStyle/>
          <a:p>
            <a:r>
              <a:rPr lang="en-US" dirty="0" smtClean="0"/>
              <a:t>Log4J</a:t>
            </a:r>
            <a:endParaRPr lang="en-US" dirty="0"/>
          </a:p>
        </p:txBody>
      </p:sp>
      <p:sp>
        <p:nvSpPr>
          <p:cNvPr id="3" name="Content Placeholder 2"/>
          <p:cNvSpPr>
            <a:spLocks noGrp="1"/>
          </p:cNvSpPr>
          <p:nvPr>
            <p:ph idx="1"/>
          </p:nvPr>
        </p:nvSpPr>
        <p:spPr>
          <a:xfrm>
            <a:off x="899592" y="1371600"/>
            <a:ext cx="7488832" cy="4267200"/>
          </a:xfrm>
        </p:spPr>
        <p:txBody>
          <a:bodyPr>
            <a:normAutofit/>
          </a:bodyPr>
          <a:lstStyle/>
          <a:p>
            <a:pPr>
              <a:buClr>
                <a:srgbClr val="00B050"/>
              </a:buClr>
              <a:buFont typeface="Wingdings" panose="05000000000000000000" pitchFamily="2" charset="2"/>
              <a:buChar char="ü"/>
            </a:pPr>
            <a:r>
              <a:rPr lang="en-US" sz="2000" dirty="0"/>
              <a:t>Inserting log statements into code is a low-tech method for debugging it. It may also be the only way because debuggers are not always available or applicable</a:t>
            </a:r>
          </a:p>
          <a:p>
            <a:pPr>
              <a:buClr>
                <a:srgbClr val="00B050"/>
              </a:buClr>
              <a:buFont typeface="Wingdings" panose="05000000000000000000" pitchFamily="2" charset="2"/>
              <a:buChar char="ü"/>
            </a:pPr>
            <a:r>
              <a:rPr lang="en-US" sz="2000" dirty="0"/>
              <a:t>It provides precise </a:t>
            </a:r>
            <a:r>
              <a:rPr lang="en-US" sz="2000" i="1" dirty="0"/>
              <a:t>context</a:t>
            </a:r>
            <a:r>
              <a:rPr lang="en-US" sz="2000" dirty="0"/>
              <a:t> about a run of the </a:t>
            </a:r>
            <a:r>
              <a:rPr lang="en-US" sz="2000" dirty="0" smtClean="0"/>
              <a:t>application</a:t>
            </a:r>
          </a:p>
          <a:p>
            <a:pPr>
              <a:buClr>
                <a:srgbClr val="00B050"/>
              </a:buClr>
              <a:buFont typeface="Wingdings" panose="05000000000000000000" pitchFamily="2" charset="2"/>
              <a:buChar char="ü"/>
            </a:pPr>
            <a:r>
              <a:rPr lang="en-US" sz="2000" dirty="0"/>
              <a:t>Has </a:t>
            </a:r>
            <a:r>
              <a:rPr lang="en-US" sz="2000" dirty="0" smtClean="0"/>
              <a:t>an ability </a:t>
            </a:r>
            <a:r>
              <a:rPr lang="en-US" sz="2000" dirty="0"/>
              <a:t>to disable certain log statements while allowing others to print </a:t>
            </a:r>
            <a:r>
              <a:rPr lang="en-US" sz="2000" dirty="0" smtClean="0"/>
              <a:t>unhindered</a:t>
            </a:r>
          </a:p>
          <a:p>
            <a:pPr>
              <a:buClr>
                <a:srgbClr val="00B050"/>
              </a:buClr>
              <a:buFont typeface="Wingdings" panose="05000000000000000000" pitchFamily="2" charset="2"/>
              <a:buChar char="ü"/>
            </a:pPr>
            <a:r>
              <a:rPr lang="en-US" sz="2000" dirty="0"/>
              <a:t>Log statements can be controlled with configuration </a:t>
            </a:r>
            <a:r>
              <a:rPr lang="en-US" sz="2000" dirty="0" smtClean="0"/>
              <a:t>files</a:t>
            </a:r>
          </a:p>
          <a:p>
            <a:pPr>
              <a:buClr>
                <a:srgbClr val="00B050"/>
              </a:buClr>
              <a:buFont typeface="Wingdings" panose="05000000000000000000" pitchFamily="2" charset="2"/>
              <a:buChar char="ü"/>
            </a:pPr>
            <a:r>
              <a:rPr lang="en-US" sz="2000" dirty="0"/>
              <a:t>Using a logger hierarchy it is possible to control which log statements are output at arbitrary </a:t>
            </a:r>
            <a:r>
              <a:rPr lang="en-US" sz="2000" dirty="0" smtClean="0"/>
              <a:t>granularity</a:t>
            </a:r>
          </a:p>
          <a:p>
            <a:pPr marL="0" indent="0">
              <a:buNone/>
            </a:pPr>
            <a:r>
              <a:rPr lang="en-US" sz="2000" b="1" u="sng" dirty="0"/>
              <a:t>Cons</a:t>
            </a:r>
            <a:r>
              <a:rPr lang="en-US" sz="2000" dirty="0"/>
              <a:t>: </a:t>
            </a:r>
          </a:p>
          <a:p>
            <a:pPr>
              <a:buClr>
                <a:srgbClr val="FF0000"/>
              </a:buClr>
              <a:buFont typeface="Wingdings" panose="05000000000000000000" pitchFamily="2" charset="2"/>
              <a:buChar char="ü"/>
            </a:pPr>
            <a:r>
              <a:rPr lang="en-US" sz="2000" dirty="0"/>
              <a:t>Logging can slow down an application</a:t>
            </a:r>
          </a:p>
          <a:p>
            <a:pPr marL="0" indent="0">
              <a:buClr>
                <a:srgbClr val="00B050"/>
              </a:buClr>
              <a:buNone/>
            </a:pPr>
            <a:endParaRPr lang="en-US" sz="1600"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8400" y="152400"/>
            <a:ext cx="1702165" cy="1143000"/>
          </a:xfrm>
          <a:prstGeom prst="rect">
            <a:avLst/>
          </a:prstGeom>
        </p:spPr>
      </p:pic>
    </p:spTree>
    <p:extLst>
      <p:ext uri="{BB962C8B-B14F-4D97-AF65-F5344CB8AC3E}">
        <p14:creationId xmlns:p14="http://schemas.microsoft.com/office/powerpoint/2010/main" val="224738271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76200"/>
            <a:ext cx="7010400" cy="1143000"/>
          </a:xfrm>
        </p:spPr>
        <p:txBody>
          <a:bodyPr>
            <a:normAutofit fontScale="90000"/>
          </a:bodyPr>
          <a:lstStyle/>
          <a:p>
            <a:r>
              <a:rPr lang="en-US" dirty="0" smtClean="0"/>
              <a:t>Comparison with other technologies</a:t>
            </a:r>
            <a:r>
              <a:rPr lang="en-US" sz="4000" dirty="0" smtClean="0"/>
              <a:t/>
            </a:r>
            <a:br>
              <a:rPr lang="en-US" sz="4000" dirty="0" smtClean="0"/>
            </a:br>
            <a:r>
              <a:rPr lang="en-US" sz="3600" dirty="0" err="1" smtClean="0">
                <a:solidFill>
                  <a:srgbClr val="0070C0"/>
                </a:solidFill>
              </a:rPr>
              <a:t>Watir</a:t>
            </a:r>
            <a:r>
              <a:rPr lang="en-US" sz="3600" dirty="0" smtClean="0">
                <a:solidFill>
                  <a:srgbClr val="0070C0"/>
                </a:solidFill>
              </a:rPr>
              <a:t> vs Selenium </a:t>
            </a:r>
            <a:r>
              <a:rPr lang="en-US" sz="3600" dirty="0" err="1" smtClean="0">
                <a:solidFill>
                  <a:srgbClr val="0070C0"/>
                </a:solidFill>
              </a:rPr>
              <a:t>WebDriver</a:t>
            </a:r>
            <a:endParaRPr lang="en-US" sz="3600" dirty="0">
              <a:solidFill>
                <a:srgbClr val="0070C0"/>
              </a:solidFill>
            </a:endParaRPr>
          </a:p>
        </p:txBody>
      </p:sp>
      <p:sp>
        <p:nvSpPr>
          <p:cNvPr id="3" name="Content Placeholder 2"/>
          <p:cNvSpPr>
            <a:spLocks noGrp="1"/>
          </p:cNvSpPr>
          <p:nvPr>
            <p:ph idx="1"/>
          </p:nvPr>
        </p:nvSpPr>
        <p:spPr>
          <a:xfrm>
            <a:off x="914400" y="1160145"/>
            <a:ext cx="7696200" cy="4250055"/>
          </a:xfrm>
        </p:spPr>
        <p:txBody>
          <a:bodyPr>
            <a:normAutofit/>
          </a:bodyPr>
          <a:lstStyle/>
          <a:p>
            <a:pPr marL="0" indent="0">
              <a:buClr>
                <a:srgbClr val="00B050"/>
              </a:buClr>
              <a:buNone/>
            </a:pPr>
            <a:r>
              <a:rPr lang="en-US" sz="1600" b="1" u="sng" dirty="0"/>
              <a:t>Similarities</a:t>
            </a:r>
            <a:r>
              <a:rPr lang="en-US" sz="1600" b="1" u="sng" dirty="0" smtClean="0"/>
              <a:t>:</a:t>
            </a:r>
          </a:p>
          <a:p>
            <a:pPr>
              <a:buClr>
                <a:srgbClr val="00B050"/>
              </a:buClr>
              <a:buFont typeface="Wingdings" panose="05000000000000000000" pitchFamily="2" charset="2"/>
              <a:buChar char="Ø"/>
            </a:pPr>
            <a:r>
              <a:rPr lang="en-US" altLang="en-US" sz="1600" dirty="0"/>
              <a:t>Both are open source</a:t>
            </a:r>
          </a:p>
          <a:p>
            <a:pPr>
              <a:buClr>
                <a:srgbClr val="00B050"/>
              </a:buClr>
              <a:buFont typeface="Wingdings" panose="05000000000000000000" pitchFamily="2" charset="2"/>
              <a:buChar char="Ø"/>
            </a:pPr>
            <a:r>
              <a:rPr lang="en-US" altLang="en-US" sz="1600" dirty="0"/>
              <a:t>Both support browsers </a:t>
            </a:r>
            <a:r>
              <a:rPr lang="en-US" altLang="en-US" sz="1600" dirty="0" smtClean="0"/>
              <a:t>only</a:t>
            </a:r>
          </a:p>
          <a:p>
            <a:pPr>
              <a:buClr>
                <a:srgbClr val="00B050"/>
              </a:buClr>
              <a:buFont typeface="Wingdings" panose="05000000000000000000" pitchFamily="2" charset="2"/>
              <a:buChar char="Ø"/>
            </a:pPr>
            <a:r>
              <a:rPr lang="en-US" sz="1600" dirty="0"/>
              <a:t>Both can be integrated with BDD frameworks</a:t>
            </a:r>
          </a:p>
          <a:p>
            <a:pPr marL="0" indent="0">
              <a:buClr>
                <a:srgbClr val="00B050"/>
              </a:buClr>
              <a:buNone/>
            </a:pPr>
            <a:r>
              <a:rPr lang="en-US" sz="1600" b="1" u="sng" dirty="0" err="1" smtClean="0"/>
              <a:t>Watir</a:t>
            </a:r>
            <a:r>
              <a:rPr lang="en-US" sz="1600" b="1" u="sng" dirty="0" smtClean="0"/>
              <a:t> advantages:</a:t>
            </a:r>
            <a:endParaRPr lang="en-US" sz="1600" b="1" u="sng" dirty="0"/>
          </a:p>
          <a:p>
            <a:pPr>
              <a:buClr>
                <a:srgbClr val="00B050"/>
              </a:buClr>
              <a:buFont typeface="Wingdings" panose="05000000000000000000" pitchFamily="2" charset="2"/>
              <a:buChar char="ü"/>
            </a:pPr>
            <a:r>
              <a:rPr lang="en-US" sz="1600" dirty="0" smtClean="0"/>
              <a:t>Ruby </a:t>
            </a:r>
            <a:r>
              <a:rPr lang="en-US" sz="1600" dirty="0"/>
              <a:t>is very simple and easy Language</a:t>
            </a:r>
          </a:p>
          <a:p>
            <a:pPr>
              <a:buClr>
                <a:srgbClr val="00B050"/>
              </a:buClr>
              <a:buFont typeface="Wingdings" panose="05000000000000000000" pitchFamily="2" charset="2"/>
              <a:buChar char="ü"/>
            </a:pPr>
            <a:r>
              <a:rPr lang="en-US" sz="1600" dirty="0"/>
              <a:t>It’s easy to build a well formatted report using XSLT transformation from XML into </a:t>
            </a:r>
            <a:r>
              <a:rPr lang="en-US" sz="1600" dirty="0" smtClean="0"/>
              <a:t>HTML</a:t>
            </a:r>
          </a:p>
          <a:p>
            <a:pPr>
              <a:buClr>
                <a:srgbClr val="00B050"/>
              </a:buClr>
              <a:buFont typeface="Wingdings" panose="05000000000000000000" pitchFamily="2" charset="2"/>
              <a:buChar char="ü"/>
            </a:pPr>
            <a:r>
              <a:rPr lang="en-US" sz="1600" dirty="0" err="1"/>
              <a:t>Watir</a:t>
            </a:r>
            <a:r>
              <a:rPr lang="en-US" sz="1600" dirty="0"/>
              <a:t> has been traditionally had more functionality than Selenium, because it was designed to interact directly with IE instead of using JavaScript</a:t>
            </a:r>
          </a:p>
          <a:p>
            <a:pPr marL="0" indent="0">
              <a:buNone/>
            </a:pPr>
            <a:r>
              <a:rPr lang="en-US" sz="1600" b="1" u="sng" dirty="0" err="1" smtClean="0"/>
              <a:t>Watir</a:t>
            </a:r>
            <a:r>
              <a:rPr lang="en-US" sz="1600" b="1" u="sng" dirty="0" smtClean="0"/>
              <a:t> disadvantages</a:t>
            </a:r>
            <a:r>
              <a:rPr lang="en-US" sz="1600" dirty="0" smtClean="0"/>
              <a:t>: </a:t>
            </a:r>
            <a:endParaRPr lang="en-US" sz="1600" dirty="0"/>
          </a:p>
          <a:p>
            <a:pPr>
              <a:buClr>
                <a:srgbClr val="FF0000"/>
              </a:buClr>
              <a:buFont typeface="Wingdings" panose="05000000000000000000" pitchFamily="2" charset="2"/>
              <a:buChar char="ü"/>
            </a:pPr>
            <a:r>
              <a:rPr lang="en-US" sz="1600" dirty="0" smtClean="0"/>
              <a:t>Less </a:t>
            </a:r>
            <a:r>
              <a:rPr lang="en-US" sz="1600" dirty="0"/>
              <a:t>help will be available </a:t>
            </a:r>
            <a:r>
              <a:rPr lang="en-US" sz="1600" dirty="0" smtClean="0"/>
              <a:t>online, as </a:t>
            </a:r>
            <a:r>
              <a:rPr lang="en-US" sz="1600" dirty="0"/>
              <a:t>users are quite smaller in </a:t>
            </a:r>
            <a:r>
              <a:rPr lang="en-US" sz="1600" dirty="0" smtClean="0"/>
              <a:t>number</a:t>
            </a:r>
          </a:p>
          <a:p>
            <a:pPr>
              <a:buClr>
                <a:srgbClr val="FF0000"/>
              </a:buClr>
              <a:buFont typeface="Wingdings" panose="05000000000000000000" pitchFamily="2" charset="2"/>
              <a:buChar char="ü"/>
            </a:pPr>
            <a:r>
              <a:rPr lang="en-US" sz="1600" dirty="0"/>
              <a:t>Ruby gems are limited for any type of </a:t>
            </a:r>
            <a:r>
              <a:rPr lang="en-US" sz="1600" dirty="0" smtClean="0"/>
              <a:t>integration</a:t>
            </a:r>
          </a:p>
          <a:p>
            <a:pPr>
              <a:buClr>
                <a:srgbClr val="FF0000"/>
              </a:buClr>
              <a:buFont typeface="Wingdings" panose="05000000000000000000" pitchFamily="2" charset="2"/>
              <a:buChar char="ü"/>
            </a:pPr>
            <a:r>
              <a:rPr lang="en-US" altLang="en-US" sz="1600" dirty="0"/>
              <a:t>Selenium supports more browsers and operating systems</a:t>
            </a:r>
            <a:endParaRPr lang="en-US" sz="16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72102" y="228600"/>
            <a:ext cx="1419497" cy="931545"/>
          </a:xfrm>
          <a:prstGeom prst="rect">
            <a:avLst/>
          </a:prstGeom>
        </p:spPr>
      </p:pic>
    </p:spTree>
    <p:extLst>
      <p:ext uri="{BB962C8B-B14F-4D97-AF65-F5344CB8AC3E}">
        <p14:creationId xmlns:p14="http://schemas.microsoft.com/office/powerpoint/2010/main" val="322211553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476672"/>
            <a:ext cx="7488832" cy="437728"/>
          </a:xfrm>
        </p:spPr>
        <p:txBody>
          <a:bodyPr>
            <a:normAutofit fontScale="90000"/>
          </a:bodyPr>
          <a:lstStyle/>
          <a:p>
            <a:r>
              <a:rPr lang="en-US" dirty="0"/>
              <a:t>Cucumber vs </a:t>
            </a:r>
            <a:r>
              <a:rPr lang="en-US" dirty="0" err="1"/>
              <a:t>TestNG</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78816053"/>
              </p:ext>
            </p:extLst>
          </p:nvPr>
        </p:nvGraphicFramePr>
        <p:xfrm>
          <a:off x="903946" y="1066800"/>
          <a:ext cx="7706654" cy="4582160"/>
        </p:xfrm>
        <a:graphic>
          <a:graphicData uri="http://schemas.openxmlformats.org/drawingml/2006/table">
            <a:tbl>
              <a:tblPr firstRow="1" firstCol="1" bandRow="1"/>
              <a:tblGrid>
                <a:gridCol w="3853327"/>
                <a:gridCol w="3853327"/>
              </a:tblGrid>
              <a:tr h="203200">
                <a:tc>
                  <a:txBody>
                    <a:bodyPr/>
                    <a:lstStyle/>
                    <a:p>
                      <a:pPr>
                        <a:spcAft>
                          <a:spcPts val="0"/>
                        </a:spcAft>
                      </a:pPr>
                      <a:r>
                        <a:rPr lang="en-US" sz="1400" dirty="0">
                          <a:effectLst/>
                          <a:latin typeface="Arial" panose="020B0604020202020204" pitchFamily="34" charset="0"/>
                          <a:cs typeface="Arial" panose="020B0604020202020204" pitchFamily="34" charset="0"/>
                        </a:rPr>
                        <a:t>              </a:t>
                      </a:r>
                      <a:r>
                        <a:rPr lang="en-US" sz="1400" b="1" dirty="0">
                          <a:effectLst/>
                          <a:latin typeface="Arial" panose="020B0604020202020204" pitchFamily="34" charset="0"/>
                          <a:cs typeface="Arial" panose="020B0604020202020204" pitchFamily="34" charset="0"/>
                        </a:rPr>
                        <a:t>Cucumber</a:t>
                      </a:r>
                      <a:endParaRPr lang="en-US" sz="1400" dirty="0">
                        <a:effectLst/>
                        <a:latin typeface="Arial" panose="020B0604020202020204" pitchFamily="34" charset="0"/>
                        <a:cs typeface="Arial" panose="020B0604020202020204" pitchFamily="34" charset="0"/>
                      </a:endParaRPr>
                    </a:p>
                  </a:txBody>
                  <a:tcPr marL="38894" marR="388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400" b="1">
                          <a:effectLst/>
                          <a:latin typeface="Arial" panose="020B0604020202020204" pitchFamily="34" charset="0"/>
                          <a:cs typeface="Arial" panose="020B0604020202020204" pitchFamily="34" charset="0"/>
                        </a:rPr>
                        <a:t>                        TestNG</a:t>
                      </a:r>
                      <a:endParaRPr lang="en-US" sz="1400">
                        <a:effectLst/>
                        <a:latin typeface="Arial" panose="020B0604020202020204" pitchFamily="34" charset="0"/>
                        <a:cs typeface="Arial" panose="020B0604020202020204" pitchFamily="34" charset="0"/>
                      </a:endParaRPr>
                    </a:p>
                  </a:txBody>
                  <a:tcPr marL="38894" marR="388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368800">
                <a:tc>
                  <a:txBody>
                    <a:bodyPr/>
                    <a:lstStyle/>
                    <a:p>
                      <a:pPr>
                        <a:lnSpc>
                          <a:spcPct val="150000"/>
                        </a:lnSpc>
                        <a:spcAft>
                          <a:spcPts val="0"/>
                        </a:spcAft>
                      </a:pPr>
                      <a:endParaRPr lang="en-US" sz="1400" dirty="0" smtClean="0">
                        <a:effectLst/>
                        <a:latin typeface="Arial" panose="020B0604020202020204" pitchFamily="34" charset="0"/>
                        <a:cs typeface="Arial" panose="020B0604020202020204" pitchFamily="34" charset="0"/>
                      </a:endParaRPr>
                    </a:p>
                    <a:p>
                      <a:pPr>
                        <a:buFont typeface="Arial" panose="020B0604020202020204" pitchFamily="34" charset="0"/>
                        <a:buChar char="•"/>
                      </a:pPr>
                      <a:r>
                        <a:rPr lang="en-US" sz="1400" dirty="0" smtClean="0">
                          <a:effectLst/>
                          <a:latin typeface="Arial" panose="020B0604020202020204" pitchFamily="34" charset="0"/>
                          <a:cs typeface="Arial" panose="020B0604020202020204" pitchFamily="34" charset="0"/>
                        </a:rPr>
                        <a:t> Cucumber </a:t>
                      </a:r>
                      <a:r>
                        <a:rPr lang="en-US" sz="1400" dirty="0">
                          <a:effectLst/>
                          <a:latin typeface="Arial" panose="020B0604020202020204" pitchFamily="34" charset="0"/>
                          <a:cs typeface="Arial" panose="020B0604020202020204" pitchFamily="34" charset="0"/>
                        </a:rPr>
                        <a:t>is a collaboration tool, which lets non-technical people write executable specifications. Those executable specifications test your app from the outside - like a black box.</a:t>
                      </a:r>
                    </a:p>
                    <a:p>
                      <a:pPr>
                        <a:buFont typeface="Arial" panose="020B0604020202020204" pitchFamily="34" charset="0"/>
                        <a:buChar char="•"/>
                      </a:pPr>
                      <a:r>
                        <a:rPr lang="en-US" sz="1400" dirty="0" smtClean="0">
                          <a:effectLst/>
                          <a:latin typeface="Arial" panose="020B0604020202020204" pitchFamily="34" charset="0"/>
                          <a:cs typeface="Arial" panose="020B0604020202020204" pitchFamily="34" charset="0"/>
                        </a:rPr>
                        <a:t> Cucumber </a:t>
                      </a:r>
                      <a:r>
                        <a:rPr lang="en-US" sz="1400" dirty="0">
                          <a:effectLst/>
                          <a:latin typeface="Arial" panose="020B0604020202020204" pitchFamily="34" charset="0"/>
                          <a:cs typeface="Arial" panose="020B0604020202020204" pitchFamily="34" charset="0"/>
                        </a:rPr>
                        <a:t>is not meant to be used as a unit testing tool.</a:t>
                      </a:r>
                    </a:p>
                    <a:p>
                      <a:pPr>
                        <a:buFont typeface="Arial" panose="020B0604020202020204" pitchFamily="34" charset="0"/>
                        <a:buChar char="•"/>
                      </a:pPr>
                      <a:r>
                        <a:rPr lang="en-US" sz="1400" dirty="0">
                          <a:effectLst/>
                          <a:latin typeface="Arial" panose="020B0604020202020204" pitchFamily="34" charset="0"/>
                          <a:cs typeface="Arial" panose="020B0604020202020204" pitchFamily="34" charset="0"/>
                        </a:rPr>
                        <a:t> It allows to write automated acceptance tests, functional requirements and software documentation into one format that would be understandable by non-technical people as well as testing tools</a:t>
                      </a:r>
                    </a:p>
                    <a:p>
                      <a:pPr>
                        <a:buFont typeface="Arial" panose="020B0604020202020204" pitchFamily="34" charset="0"/>
                        <a:buChar char="•"/>
                      </a:pPr>
                      <a:r>
                        <a:rPr lang="en-US" sz="1400" dirty="0" smtClean="0">
                          <a:effectLst/>
                          <a:latin typeface="Arial" panose="020B0604020202020204" pitchFamily="34" charset="0"/>
                          <a:cs typeface="Arial" panose="020B0604020202020204" pitchFamily="34" charset="0"/>
                        </a:rPr>
                        <a:t> </a:t>
                      </a:r>
                      <a:r>
                        <a:rPr lang="en-US" sz="1400" b="0" dirty="0" smtClean="0">
                          <a:effectLst/>
                          <a:latin typeface="Arial" panose="020B0604020202020204" pitchFamily="34" charset="0"/>
                          <a:cs typeface="Arial" panose="020B0604020202020204" pitchFamily="34" charset="0"/>
                        </a:rPr>
                        <a:t>T</a:t>
                      </a:r>
                      <a:r>
                        <a:rPr lang="en-US" sz="1400" dirty="0" smtClean="0">
                          <a:effectLst/>
                          <a:latin typeface="Arial" panose="020B0604020202020204" pitchFamily="34" charset="0"/>
                          <a:cs typeface="Arial" panose="020B0604020202020204" pitchFamily="34" charset="0"/>
                        </a:rPr>
                        <a:t>ests</a:t>
                      </a:r>
                      <a:r>
                        <a:rPr lang="ru-RU" sz="1400" dirty="0" smtClean="0">
                          <a:effectLst/>
                          <a:latin typeface="Arial" panose="020B0604020202020204" pitchFamily="34" charset="0"/>
                          <a:cs typeface="Arial" panose="020B0604020202020204" pitchFamily="34" charset="0"/>
                        </a:rPr>
                        <a:t> </a:t>
                      </a:r>
                      <a:r>
                        <a:rPr lang="en-US" sz="1400" dirty="0" smtClean="0">
                          <a:effectLst/>
                          <a:latin typeface="Arial" panose="020B0604020202020204" pitchFamily="34" charset="0"/>
                          <a:cs typeface="Arial" panose="020B0604020202020204" pitchFamily="34" charset="0"/>
                        </a:rPr>
                        <a:t>can</a:t>
                      </a:r>
                      <a:r>
                        <a:rPr lang="en-US" sz="1400" baseline="0" dirty="0" smtClean="0">
                          <a:effectLst/>
                          <a:latin typeface="Arial" panose="020B0604020202020204" pitchFamily="34" charset="0"/>
                          <a:cs typeface="Arial" panose="020B0604020202020204" pitchFamily="34" charset="0"/>
                        </a:rPr>
                        <a:t> be implemented</a:t>
                      </a:r>
                      <a:r>
                        <a:rPr lang="en-US" sz="1400" dirty="0" smtClean="0">
                          <a:effectLst/>
                          <a:latin typeface="Arial" panose="020B0604020202020204" pitchFamily="34" charset="0"/>
                          <a:cs typeface="Arial" panose="020B0604020202020204" pitchFamily="34" charset="0"/>
                        </a:rPr>
                        <a:t> </a:t>
                      </a:r>
                      <a:r>
                        <a:rPr lang="en-US" sz="1400" dirty="0">
                          <a:effectLst/>
                          <a:latin typeface="Arial" panose="020B0604020202020204" pitchFamily="34" charset="0"/>
                          <a:cs typeface="Arial" panose="020B0604020202020204" pitchFamily="34" charset="0"/>
                        </a:rPr>
                        <a:t>using the same language you use to discuss them with the business. </a:t>
                      </a:r>
                    </a:p>
                    <a:p>
                      <a:pPr>
                        <a:buFont typeface="Arial" panose="020B0604020202020204" pitchFamily="34" charset="0"/>
                        <a:buChar char="•"/>
                      </a:pPr>
                      <a:r>
                        <a:rPr lang="en-US" sz="1400" dirty="0" smtClean="0">
                          <a:effectLst/>
                          <a:latin typeface="Arial" panose="020B0604020202020204" pitchFamily="34" charset="0"/>
                          <a:cs typeface="Arial" panose="020B0604020202020204" pitchFamily="34" charset="0"/>
                        </a:rPr>
                        <a:t> Cucumber </a:t>
                      </a:r>
                      <a:r>
                        <a:rPr lang="en-US" sz="1400" dirty="0">
                          <a:effectLst/>
                          <a:latin typeface="Arial" panose="020B0604020202020204" pitchFamily="34" charset="0"/>
                          <a:cs typeface="Arial" panose="020B0604020202020204" pitchFamily="34" charset="0"/>
                        </a:rPr>
                        <a:t>adds the overhead of plain English (or other native language) to executable code conversion</a:t>
                      </a:r>
                    </a:p>
                    <a:p>
                      <a:pPr>
                        <a:buFont typeface="Arial" panose="020B0604020202020204" pitchFamily="34" charset="0"/>
                        <a:buChar char="•"/>
                      </a:pPr>
                      <a:r>
                        <a:rPr lang="en-US" sz="1400" dirty="0" smtClean="0">
                          <a:effectLst/>
                          <a:latin typeface="Arial" panose="020B0604020202020204" pitchFamily="34" charset="0"/>
                          <a:cs typeface="Arial" panose="020B0604020202020204" pitchFamily="34" charset="0"/>
                        </a:rPr>
                        <a:t> Good </a:t>
                      </a:r>
                      <a:r>
                        <a:rPr lang="en-US" sz="1400" dirty="0">
                          <a:effectLst/>
                          <a:latin typeface="Arial" panose="020B0604020202020204" pitchFamily="34" charset="0"/>
                          <a:cs typeface="Arial" panose="020B0604020202020204" pitchFamily="34" charset="0"/>
                        </a:rPr>
                        <a:t>for acceptance </a:t>
                      </a:r>
                      <a:r>
                        <a:rPr lang="en-US" sz="1400" dirty="0" smtClean="0">
                          <a:effectLst/>
                          <a:latin typeface="Arial" panose="020B0604020202020204" pitchFamily="34" charset="0"/>
                          <a:cs typeface="Arial" panose="020B0604020202020204" pitchFamily="34" charset="0"/>
                        </a:rPr>
                        <a:t>testing</a:t>
                      </a:r>
                      <a:endParaRPr lang="en-US" sz="1400" dirty="0">
                        <a:effectLst/>
                        <a:latin typeface="Arial" panose="020B0604020202020204" pitchFamily="34" charset="0"/>
                        <a:cs typeface="Arial" panose="020B0604020202020204" pitchFamily="34" charset="0"/>
                      </a:endParaRPr>
                    </a:p>
                  </a:txBody>
                  <a:tcPr marL="38894" marR="388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endParaRPr lang="en-US" sz="1400" dirty="0" smtClean="0">
                        <a:effectLst/>
                        <a:latin typeface="Arial" panose="020B0604020202020204" pitchFamily="34" charset="0"/>
                        <a:cs typeface="Arial" panose="020B0604020202020204" pitchFamily="34" charset="0"/>
                      </a:endParaRPr>
                    </a:p>
                    <a:p>
                      <a:pPr>
                        <a:buFont typeface="Arial" panose="020B0604020202020204" pitchFamily="34" charset="0"/>
                        <a:buChar char="•"/>
                      </a:pPr>
                      <a:r>
                        <a:rPr lang="en-US" sz="1400" dirty="0" smtClean="0">
                          <a:effectLst/>
                          <a:latin typeface="Arial" panose="020B0604020202020204" pitchFamily="34" charset="0"/>
                          <a:cs typeface="Arial" panose="020B0604020202020204" pitchFamily="34" charset="0"/>
                        </a:rPr>
                        <a:t> </a:t>
                      </a:r>
                      <a:r>
                        <a:rPr lang="en-US" sz="1400" dirty="0" err="1" smtClean="0">
                          <a:effectLst/>
                          <a:latin typeface="Arial" panose="020B0604020202020204" pitchFamily="34" charset="0"/>
                          <a:cs typeface="Arial" panose="020B0604020202020204" pitchFamily="34" charset="0"/>
                        </a:rPr>
                        <a:t>TestNG</a:t>
                      </a:r>
                      <a:r>
                        <a:rPr lang="en-US" sz="1400" dirty="0" smtClean="0">
                          <a:effectLst/>
                          <a:latin typeface="Arial" panose="020B0604020202020204" pitchFamily="34" charset="0"/>
                          <a:cs typeface="Arial" panose="020B0604020202020204" pitchFamily="34" charset="0"/>
                        </a:rPr>
                        <a:t> </a:t>
                      </a:r>
                      <a:r>
                        <a:rPr lang="en-US" sz="1400" dirty="0">
                          <a:effectLst/>
                          <a:latin typeface="Arial" panose="020B0604020202020204" pitchFamily="34" charset="0"/>
                          <a:cs typeface="Arial" panose="020B0604020202020204" pitchFamily="34" charset="0"/>
                        </a:rPr>
                        <a:t>are unit testing tools. They are great for testing individual classes, but not great for executable specifications that are readable (and writeable) by non-technical people.</a:t>
                      </a:r>
                    </a:p>
                    <a:p>
                      <a:pPr>
                        <a:buFont typeface="Arial" panose="020B0604020202020204" pitchFamily="34" charset="0"/>
                        <a:buChar char="•"/>
                      </a:pPr>
                      <a:r>
                        <a:rPr lang="en-US" sz="1400" dirty="0" smtClean="0">
                          <a:effectLst/>
                          <a:latin typeface="Arial" panose="020B0604020202020204" pitchFamily="34" charset="0"/>
                          <a:cs typeface="Arial" panose="020B0604020202020204" pitchFamily="34" charset="0"/>
                        </a:rPr>
                        <a:t> It </a:t>
                      </a:r>
                      <a:r>
                        <a:rPr lang="en-US" sz="1400" dirty="0">
                          <a:effectLst/>
                          <a:latin typeface="Arial" panose="020B0604020202020204" pitchFamily="34" charset="0"/>
                          <a:cs typeface="Arial" panose="020B0604020202020204" pitchFamily="34" charset="0"/>
                        </a:rPr>
                        <a:t>facilitates to test individual classes.</a:t>
                      </a:r>
                    </a:p>
                    <a:p>
                      <a:pPr>
                        <a:buFont typeface="Arial" panose="020B0604020202020204" pitchFamily="34" charset="0"/>
                        <a:buChar char="•"/>
                      </a:pPr>
                      <a:r>
                        <a:rPr lang="en-US" sz="1400" dirty="0">
                          <a:effectLst/>
                          <a:latin typeface="Arial" panose="020B0604020202020204" pitchFamily="34" charset="0"/>
                          <a:cs typeface="Arial" panose="020B0604020202020204" pitchFamily="34" charset="0"/>
                        </a:rPr>
                        <a:t> You can group tests using tags.</a:t>
                      </a:r>
                    </a:p>
                    <a:p>
                      <a:pPr>
                        <a:buFont typeface="Arial" panose="020B0604020202020204" pitchFamily="34" charset="0"/>
                        <a:buChar char="•"/>
                      </a:pPr>
                      <a:r>
                        <a:rPr lang="en-US" sz="1400" dirty="0">
                          <a:effectLst/>
                          <a:latin typeface="Arial" panose="020B0604020202020204" pitchFamily="34" charset="0"/>
                          <a:cs typeface="Arial" panose="020B0604020202020204" pitchFamily="34" charset="0"/>
                        </a:rPr>
                        <a:t> </a:t>
                      </a:r>
                      <a:r>
                        <a:rPr lang="en-US" sz="1400" dirty="0" err="1">
                          <a:effectLst/>
                          <a:latin typeface="Arial" panose="020B0604020202020204" pitchFamily="34" charset="0"/>
                          <a:cs typeface="Arial" panose="020B0604020202020204" pitchFamily="34" charset="0"/>
                        </a:rPr>
                        <a:t>TestNG</a:t>
                      </a:r>
                      <a:r>
                        <a:rPr lang="en-US" sz="1400" dirty="0">
                          <a:effectLst/>
                          <a:latin typeface="Arial" panose="020B0604020202020204" pitchFamily="34" charset="0"/>
                          <a:cs typeface="Arial" panose="020B0604020202020204" pitchFamily="34" charset="0"/>
                        </a:rPr>
                        <a:t> supports a lot of complicated practices like priorities, grouping, listener etc. </a:t>
                      </a:r>
                    </a:p>
                    <a:p>
                      <a:pPr>
                        <a:buFont typeface="Arial" panose="020B0604020202020204" pitchFamily="34" charset="0"/>
                        <a:buChar char="•"/>
                      </a:pPr>
                      <a:r>
                        <a:rPr lang="en-US" sz="1400" dirty="0">
                          <a:effectLst/>
                          <a:latin typeface="Arial" panose="020B0604020202020204" pitchFamily="34" charset="0"/>
                          <a:cs typeface="Arial" panose="020B0604020202020204" pitchFamily="34" charset="0"/>
                        </a:rPr>
                        <a:t> Useful when you have to automate large numb</a:t>
                      </a:r>
                      <a:r>
                        <a:rPr lang="en-US" sz="1400" dirty="0">
                          <a:solidFill>
                            <a:srgbClr val="222222"/>
                          </a:solidFill>
                          <a:effectLst/>
                          <a:latin typeface="Arial" panose="020B0604020202020204" pitchFamily="34" charset="0"/>
                          <a:cs typeface="Arial" panose="020B0604020202020204" pitchFamily="34" charset="0"/>
                        </a:rPr>
                        <a:t>er of test </a:t>
                      </a:r>
                      <a:r>
                        <a:rPr lang="en-US" sz="1400" dirty="0" smtClean="0">
                          <a:solidFill>
                            <a:srgbClr val="222222"/>
                          </a:solidFill>
                          <a:effectLst/>
                          <a:latin typeface="Arial" panose="020B0604020202020204" pitchFamily="34" charset="0"/>
                          <a:cs typeface="Arial" panose="020B0604020202020204" pitchFamily="34" charset="0"/>
                        </a:rPr>
                        <a:t>case</a:t>
                      </a:r>
                    </a:p>
                    <a:p>
                      <a:pPr>
                        <a:buFont typeface="Arial" panose="020B0604020202020204" pitchFamily="34" charset="0"/>
                        <a:buChar char="•"/>
                      </a:pPr>
                      <a:r>
                        <a:rPr lang="en-US" sz="1400" dirty="0" smtClean="0">
                          <a:solidFill>
                            <a:srgbClr val="222222"/>
                          </a:solidFill>
                          <a:effectLst/>
                          <a:latin typeface="Arial" panose="020B0604020202020204" pitchFamily="34" charset="0"/>
                          <a:cs typeface="Arial" panose="020B0604020202020204" pitchFamily="34" charset="0"/>
                        </a:rPr>
                        <a:t> Has an ability to run tests in parallel</a:t>
                      </a:r>
                    </a:p>
                    <a:p>
                      <a:pPr>
                        <a:buFont typeface="Arial" panose="020B0604020202020204" pitchFamily="34" charset="0"/>
                        <a:buChar char="•"/>
                      </a:pPr>
                      <a:r>
                        <a:rPr lang="en-US" sz="1400" dirty="0" smtClean="0">
                          <a:solidFill>
                            <a:srgbClr val="222222"/>
                          </a:solidFill>
                          <a:effectLst/>
                          <a:latin typeface="Arial" panose="020B0604020202020204" pitchFamily="34" charset="0"/>
                          <a:cs typeface="Arial" panose="020B0604020202020204" pitchFamily="34" charset="0"/>
                        </a:rPr>
                        <a:t> Supports different data providers such as Excel, DB, text</a:t>
                      </a:r>
                      <a:r>
                        <a:rPr lang="en-US" sz="1400" baseline="0" dirty="0" smtClean="0">
                          <a:solidFill>
                            <a:srgbClr val="222222"/>
                          </a:solidFill>
                          <a:effectLst/>
                          <a:latin typeface="Arial" panose="020B0604020202020204" pitchFamily="34" charset="0"/>
                          <a:cs typeface="Arial" panose="020B0604020202020204" pitchFamily="34" charset="0"/>
                        </a:rPr>
                        <a:t> files</a:t>
                      </a:r>
                      <a:endParaRPr lang="en-US" sz="1400" dirty="0">
                        <a:effectLst/>
                        <a:latin typeface="Arial" panose="020B0604020202020204" pitchFamily="34" charset="0"/>
                        <a:cs typeface="Arial" panose="020B0604020202020204" pitchFamily="34" charset="0"/>
                      </a:endParaRPr>
                    </a:p>
                  </a:txBody>
                  <a:tcPr marL="38894" marR="388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637614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476672"/>
            <a:ext cx="7488832" cy="361528"/>
          </a:xfrm>
        </p:spPr>
        <p:txBody>
          <a:bodyPr>
            <a:noAutofit/>
          </a:bodyPr>
          <a:lstStyle/>
          <a:p>
            <a:r>
              <a:rPr lang="en-US" sz="4000" dirty="0"/>
              <a:t>Cucumber reports vs </a:t>
            </a:r>
            <a:r>
              <a:rPr lang="en-US" sz="4000" dirty="0" err="1"/>
              <a:t>ReportNG</a:t>
            </a:r>
            <a:endParaRPr lang="en-US" sz="4000"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231571581"/>
              </p:ext>
            </p:extLst>
          </p:nvPr>
        </p:nvGraphicFramePr>
        <p:xfrm>
          <a:off x="990597" y="838201"/>
          <a:ext cx="7239002" cy="5018509"/>
        </p:xfrm>
        <a:graphic>
          <a:graphicData uri="http://schemas.openxmlformats.org/drawingml/2006/table">
            <a:tbl>
              <a:tblPr firstRow="1" firstCol="1" bandRow="1"/>
              <a:tblGrid>
                <a:gridCol w="3619501"/>
                <a:gridCol w="3619501"/>
              </a:tblGrid>
              <a:tr h="147851">
                <a:tc>
                  <a:txBody>
                    <a:bodyPr/>
                    <a:lstStyle/>
                    <a:p>
                      <a:pPr algn="ctr">
                        <a:spcAft>
                          <a:spcPts val="0"/>
                        </a:spcAft>
                      </a:pPr>
                      <a:r>
                        <a:rPr lang="en-US" sz="1400" b="1" dirty="0" smtClean="0">
                          <a:effectLst/>
                          <a:latin typeface="Arial" panose="020B0604020202020204" pitchFamily="34" charset="0"/>
                          <a:cs typeface="Arial" panose="020B0604020202020204" pitchFamily="34" charset="0"/>
                        </a:rPr>
                        <a:t>Cucumber reports and XSLT</a:t>
                      </a:r>
                      <a:endParaRPr lang="en-US" sz="1400" dirty="0">
                        <a:effectLst/>
                        <a:latin typeface="Arial" panose="020B0604020202020204" pitchFamily="34" charset="0"/>
                        <a:cs typeface="Arial" panose="020B0604020202020204" pitchFamily="34" charset="0"/>
                      </a:endParaRPr>
                    </a:p>
                  </a:txBody>
                  <a:tcPr marL="39462" marR="394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400" b="1" dirty="0">
                          <a:effectLst/>
                          <a:latin typeface="Arial" panose="020B0604020202020204" pitchFamily="34" charset="0"/>
                          <a:cs typeface="Arial" panose="020B0604020202020204" pitchFamily="34" charset="0"/>
                        </a:rPr>
                        <a:t>                        </a:t>
                      </a:r>
                      <a:r>
                        <a:rPr lang="en-US" sz="1400" b="1" dirty="0" err="1" smtClean="0">
                          <a:effectLst/>
                          <a:latin typeface="Arial" panose="020B0604020202020204" pitchFamily="34" charset="0"/>
                          <a:cs typeface="Arial" panose="020B0604020202020204" pitchFamily="34" charset="0"/>
                        </a:rPr>
                        <a:t>ReportNG</a:t>
                      </a:r>
                      <a:endParaRPr lang="en-US" sz="1400" dirty="0">
                        <a:effectLst/>
                        <a:latin typeface="Arial" panose="020B0604020202020204" pitchFamily="34" charset="0"/>
                        <a:cs typeface="Arial" panose="020B0604020202020204" pitchFamily="34" charset="0"/>
                      </a:endParaRPr>
                    </a:p>
                  </a:txBody>
                  <a:tcPr marL="39462" marR="394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05149">
                <a:tc>
                  <a:txBody>
                    <a:bodyPr/>
                    <a:lstStyle/>
                    <a:p>
                      <a:pPr>
                        <a:lnSpc>
                          <a:spcPct val="150000"/>
                        </a:lnSpc>
                        <a:spcAft>
                          <a:spcPts val="0"/>
                        </a:spcAft>
                      </a:pPr>
                      <a:endParaRPr lang="en-US" sz="1400" dirty="0">
                        <a:effectLst/>
                        <a:latin typeface="Arial" panose="020B0604020202020204" pitchFamily="34" charset="0"/>
                        <a:cs typeface="Arial" panose="020B0604020202020204" pitchFamily="34" charset="0"/>
                      </a:endParaRPr>
                    </a:p>
                    <a:p>
                      <a:pPr>
                        <a:buFont typeface="Arial" panose="020B0604020202020204" pitchFamily="34" charset="0"/>
                        <a:buChar char="•"/>
                      </a:pPr>
                      <a:r>
                        <a:rPr lang="en-US" sz="1400" dirty="0" smtClean="0">
                          <a:effectLst/>
                          <a:latin typeface="Arial" panose="020B0604020202020204" pitchFamily="34" charset="0"/>
                          <a:cs typeface="Arial" panose="020B0604020202020204" pitchFamily="34" charset="0"/>
                        </a:rPr>
                        <a:t> Report shows</a:t>
                      </a:r>
                      <a:r>
                        <a:rPr lang="en-US" sz="1400" baseline="0" dirty="0" smtClean="0">
                          <a:effectLst/>
                          <a:latin typeface="Arial" panose="020B0604020202020204" pitchFamily="34" charset="0"/>
                          <a:cs typeface="Arial" panose="020B0604020202020204" pitchFamily="34" charset="0"/>
                        </a:rPr>
                        <a:t> separately each scenario</a:t>
                      </a:r>
                      <a:endParaRPr lang="en-US" sz="1400" dirty="0">
                        <a:effectLst/>
                        <a:latin typeface="Arial" panose="020B0604020202020204" pitchFamily="34" charset="0"/>
                        <a:cs typeface="Arial" panose="020B0604020202020204" pitchFamily="34" charset="0"/>
                      </a:endParaRPr>
                    </a:p>
                    <a:p>
                      <a:pPr>
                        <a:buFont typeface="Arial" panose="020B0604020202020204" pitchFamily="34" charset="0"/>
                        <a:buChar char="•"/>
                      </a:pPr>
                      <a:r>
                        <a:rPr lang="en-US" sz="1400" dirty="0" smtClean="0">
                          <a:effectLst/>
                          <a:latin typeface="Arial" panose="020B0604020202020204" pitchFamily="34" charset="0"/>
                          <a:cs typeface="Arial" panose="020B0604020202020204" pitchFamily="34" charset="0"/>
                        </a:rPr>
                        <a:t> Easy to customize</a:t>
                      </a:r>
                      <a:endParaRPr lang="en-US" sz="1400" dirty="0">
                        <a:effectLst/>
                        <a:latin typeface="Arial" panose="020B0604020202020204" pitchFamily="34" charset="0"/>
                        <a:cs typeface="Arial" panose="020B0604020202020204" pitchFamily="34" charset="0"/>
                      </a:endParaRPr>
                    </a:p>
                    <a:p>
                      <a:pPr>
                        <a:buFont typeface="Arial" panose="020B0604020202020204" pitchFamily="34" charset="0"/>
                        <a:buChar char="•"/>
                      </a:pPr>
                      <a:r>
                        <a:rPr lang="en-US" sz="1400" kern="1200" dirty="0">
                          <a:solidFill>
                            <a:schemeClr val="tx1"/>
                          </a:solidFill>
                          <a:effectLst/>
                          <a:latin typeface="Arial" panose="020B0604020202020204" pitchFamily="34" charset="0"/>
                          <a:ea typeface="+mn-ea"/>
                          <a:cs typeface="Arial" panose="020B0604020202020204" pitchFamily="34" charset="0"/>
                        </a:rPr>
                        <a:t> </a:t>
                      </a:r>
                      <a:r>
                        <a:rPr lang="en-US" sz="1400" kern="1200" dirty="0" smtClean="0">
                          <a:solidFill>
                            <a:schemeClr val="tx1"/>
                          </a:solidFill>
                          <a:effectLst/>
                          <a:latin typeface="Arial" panose="020B0604020202020204" pitchFamily="34" charset="0"/>
                          <a:ea typeface="+mn-ea"/>
                          <a:cs typeface="Arial" panose="020B0604020202020204" pitchFamily="34" charset="0"/>
                        </a:rPr>
                        <a:t>XML has column flexibility, so it can be updated easily rather than a traditional table-row-column approach</a:t>
                      </a:r>
                      <a:endParaRPr lang="en-US" sz="1400" kern="1200" dirty="0">
                        <a:solidFill>
                          <a:schemeClr val="tx1"/>
                        </a:solidFill>
                        <a:effectLst/>
                        <a:latin typeface="Arial" panose="020B0604020202020204" pitchFamily="34" charset="0"/>
                        <a:ea typeface="+mn-ea"/>
                        <a:cs typeface="Arial" panose="020B0604020202020204" pitchFamily="34" charset="0"/>
                      </a:endParaRPr>
                    </a:p>
                    <a:p>
                      <a:pPr>
                        <a:buFont typeface="Arial" panose="020B0604020202020204" pitchFamily="34" charset="0"/>
                        <a:buChar char="•"/>
                      </a:pPr>
                      <a:r>
                        <a:rPr lang="en-US" sz="1400" dirty="0" smtClean="0">
                          <a:effectLst/>
                          <a:latin typeface="Arial" panose="020B0604020202020204" pitchFamily="34" charset="0"/>
                          <a:cs typeface="Arial" panose="020B0604020202020204" pitchFamily="34" charset="0"/>
                        </a:rPr>
                        <a:t> Optional</a:t>
                      </a:r>
                      <a:r>
                        <a:rPr lang="en-US" sz="1400" baseline="0" dirty="0" smtClean="0">
                          <a:effectLst/>
                          <a:latin typeface="Arial" panose="020B0604020202020204" pitchFamily="34" charset="0"/>
                          <a:cs typeface="Arial" panose="020B0604020202020204" pitchFamily="34" charset="0"/>
                        </a:rPr>
                        <a:t> comments can be added to each step</a:t>
                      </a:r>
                      <a:r>
                        <a:rPr lang="en-US" sz="1400" dirty="0">
                          <a:effectLst/>
                          <a:latin typeface="Arial" panose="020B0604020202020204" pitchFamily="34" charset="0"/>
                          <a:cs typeface="Arial" panose="020B0604020202020204" pitchFamily="34" charset="0"/>
                        </a:rPr>
                        <a:t> </a:t>
                      </a:r>
                    </a:p>
                    <a:p>
                      <a:pPr>
                        <a:buFont typeface="Arial" panose="020B0604020202020204" pitchFamily="34" charset="0"/>
                        <a:buChar char="•"/>
                      </a:pPr>
                      <a:r>
                        <a:rPr lang="en-US" sz="1400" dirty="0" smtClean="0">
                          <a:effectLst/>
                          <a:latin typeface="Arial" panose="020B0604020202020204" pitchFamily="34" charset="0"/>
                          <a:cs typeface="Arial" panose="020B0604020202020204" pitchFamily="34" charset="0"/>
                        </a:rPr>
                        <a:t> Cucumber has it’s own reporter in different formats: XML, HTML, JSON</a:t>
                      </a:r>
                      <a:endParaRPr lang="en-US" sz="1400" dirty="0">
                        <a:effectLst/>
                        <a:latin typeface="Arial" panose="020B0604020202020204" pitchFamily="34" charset="0"/>
                        <a:cs typeface="Arial" panose="020B0604020202020204" pitchFamily="34" charset="0"/>
                      </a:endParaRPr>
                    </a:p>
                    <a:p>
                      <a:pPr>
                        <a:buFont typeface="Arial" panose="020B0604020202020204" pitchFamily="34" charset="0"/>
                        <a:buChar char="•"/>
                      </a:pPr>
                      <a:r>
                        <a:rPr lang="en-US" sz="1400" dirty="0" smtClean="0">
                          <a:effectLst/>
                          <a:latin typeface="Arial" panose="020B0604020202020204" pitchFamily="34" charset="0"/>
                          <a:cs typeface="Arial" panose="020B0604020202020204" pitchFamily="34" charset="0"/>
                        </a:rPr>
                        <a:t> Scenarios in report are in the same format as in the feature description</a:t>
                      </a:r>
                    </a:p>
                    <a:p>
                      <a:pPr>
                        <a:buFont typeface="Arial" panose="020B0604020202020204" pitchFamily="34" charset="0"/>
                        <a:buChar char="•"/>
                      </a:pPr>
                      <a:r>
                        <a:rPr lang="en-US" sz="1400" dirty="0" smtClean="0">
                          <a:effectLst/>
                          <a:latin typeface="Arial" panose="020B0604020202020204" pitchFamily="34" charset="0"/>
                          <a:cs typeface="Arial" panose="020B0604020202020204" pitchFamily="34" charset="0"/>
                        </a:rPr>
                        <a:t> Generates only single</a:t>
                      </a:r>
                      <a:r>
                        <a:rPr lang="en-US" sz="1400" baseline="0" dirty="0" smtClean="0">
                          <a:effectLst/>
                          <a:latin typeface="Arial" panose="020B0604020202020204" pitchFamily="34" charset="0"/>
                          <a:cs typeface="Arial" panose="020B0604020202020204" pitchFamily="34" charset="0"/>
                        </a:rPr>
                        <a:t> file and can be easily sent automatically by email</a:t>
                      </a:r>
                    </a:p>
                    <a:p>
                      <a:pPr>
                        <a:buFont typeface="Arial" panose="020B0604020202020204" pitchFamily="34" charset="0"/>
                        <a:buChar char="•"/>
                      </a:pPr>
                      <a:r>
                        <a:rPr lang="en-US" sz="1400" baseline="0" dirty="0" smtClean="0">
                          <a:effectLst/>
                          <a:latin typeface="Arial" panose="020B0604020202020204" pitchFamily="34" charset="0"/>
                          <a:cs typeface="Arial" panose="020B0604020202020204" pitchFamily="34" charset="0"/>
                        </a:rPr>
                        <a:t> Uses listeners. So, no additional code should be used in each test</a:t>
                      </a:r>
                      <a:endParaRPr lang="en-US" sz="1400" dirty="0">
                        <a:effectLst/>
                        <a:latin typeface="Arial" panose="020B0604020202020204" pitchFamily="34" charset="0"/>
                        <a:cs typeface="Arial" panose="020B0604020202020204" pitchFamily="34" charset="0"/>
                      </a:endParaRPr>
                    </a:p>
                    <a:p>
                      <a:r>
                        <a:rPr lang="en-US" sz="1400" dirty="0">
                          <a:effectLst/>
                          <a:latin typeface="Arial" panose="020B0604020202020204" pitchFamily="34" charset="0"/>
                          <a:cs typeface="Arial" panose="020B0604020202020204" pitchFamily="34" charset="0"/>
                        </a:rPr>
                        <a:t/>
                      </a:r>
                      <a:br>
                        <a:rPr lang="en-US" sz="1400" dirty="0">
                          <a:effectLst/>
                          <a:latin typeface="Arial" panose="020B0604020202020204" pitchFamily="34" charset="0"/>
                          <a:cs typeface="Arial" panose="020B0604020202020204" pitchFamily="34" charset="0"/>
                        </a:rPr>
                      </a:br>
                      <a:endParaRPr lang="en-US" sz="1400" dirty="0">
                        <a:effectLst/>
                        <a:latin typeface="Arial" panose="020B0604020202020204" pitchFamily="34" charset="0"/>
                        <a:cs typeface="Arial" panose="020B0604020202020204" pitchFamily="34" charset="0"/>
                      </a:endParaRPr>
                    </a:p>
                  </a:txBody>
                  <a:tcPr marL="39462" marR="394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endParaRPr lang="en-US" sz="1400" dirty="0">
                        <a:effectLst/>
                        <a:latin typeface="Arial" panose="020B0604020202020204" pitchFamily="34" charset="0"/>
                        <a:cs typeface="Arial" panose="020B0604020202020204" pitchFamily="34" charset="0"/>
                      </a:endParaRPr>
                    </a:p>
                    <a:p>
                      <a:pPr>
                        <a:buFont typeface="Arial" panose="020B0604020202020204" pitchFamily="34" charset="0"/>
                        <a:buChar char="•"/>
                      </a:pPr>
                      <a:r>
                        <a:rPr lang="en-US" sz="1400" dirty="0" smtClean="0">
                          <a:latin typeface="Arial" panose="020B0604020202020204" pitchFamily="34" charset="0"/>
                          <a:cs typeface="Arial" panose="020B0604020202020204" pitchFamily="34" charset="0"/>
                        </a:rPr>
                        <a:t> Is a simple HTML reporting plug-in for the </a:t>
                      </a:r>
                      <a:r>
                        <a:rPr lang="en-US" sz="1400" kern="1200" dirty="0" err="1" smtClean="0">
                          <a:solidFill>
                            <a:schemeClr val="tx1"/>
                          </a:solidFill>
                          <a:latin typeface="Arial" panose="020B0604020202020204" pitchFamily="34" charset="0"/>
                          <a:ea typeface="+mn-ea"/>
                          <a:cs typeface="Arial" panose="020B0604020202020204" pitchFamily="34" charset="0"/>
                        </a:rPr>
                        <a:t>TestNG</a:t>
                      </a:r>
                      <a:r>
                        <a:rPr lang="en-US" sz="1400" kern="1200" baseline="0" dirty="0" smtClean="0">
                          <a:solidFill>
                            <a:schemeClr val="tx1"/>
                          </a:solidFill>
                          <a:latin typeface="Arial" panose="020B0604020202020204" pitchFamily="34" charset="0"/>
                          <a:ea typeface="+mn-ea"/>
                          <a:cs typeface="Arial" panose="020B0604020202020204" pitchFamily="34" charset="0"/>
                        </a:rPr>
                        <a:t> </a:t>
                      </a:r>
                      <a:r>
                        <a:rPr lang="en-US" sz="1400" dirty="0" smtClean="0">
                          <a:latin typeface="Arial" panose="020B0604020202020204" pitchFamily="34" charset="0"/>
                          <a:cs typeface="Arial" panose="020B0604020202020204" pitchFamily="34" charset="0"/>
                        </a:rPr>
                        <a:t>unit-testing framework</a:t>
                      </a:r>
                      <a:endParaRPr lang="en-US" sz="1400" dirty="0">
                        <a:effectLst/>
                        <a:latin typeface="Arial" panose="020B0604020202020204" pitchFamily="34" charset="0"/>
                        <a:cs typeface="Arial" panose="020B0604020202020204" pitchFamily="34" charset="0"/>
                      </a:endParaRPr>
                    </a:p>
                    <a:p>
                      <a:pPr>
                        <a:buFont typeface="Arial" panose="020B0604020202020204" pitchFamily="34" charset="0"/>
                        <a:buChar char="•"/>
                      </a:pPr>
                      <a:r>
                        <a:rPr lang="en-US" sz="1400" kern="1200" dirty="0" smtClean="0">
                          <a:solidFill>
                            <a:schemeClr val="tx1"/>
                          </a:solidFill>
                          <a:latin typeface="Arial" panose="020B0604020202020204" pitchFamily="34" charset="0"/>
                          <a:ea typeface="+mn-ea"/>
                          <a:cs typeface="Arial" panose="020B0604020202020204" pitchFamily="34" charset="0"/>
                        </a:rPr>
                        <a:t> Provides a simple, </a:t>
                      </a:r>
                      <a:r>
                        <a:rPr lang="en-US" sz="1400" kern="1200" dirty="0" err="1" smtClean="0">
                          <a:solidFill>
                            <a:schemeClr val="tx1"/>
                          </a:solidFill>
                          <a:latin typeface="Arial" panose="020B0604020202020204" pitchFamily="34" charset="0"/>
                          <a:ea typeface="+mn-ea"/>
                          <a:cs typeface="Arial" panose="020B0604020202020204" pitchFamily="34" charset="0"/>
                        </a:rPr>
                        <a:t>colour</a:t>
                      </a:r>
                      <a:r>
                        <a:rPr lang="en-US" sz="1400" kern="1200" dirty="0" smtClean="0">
                          <a:solidFill>
                            <a:schemeClr val="tx1"/>
                          </a:solidFill>
                          <a:latin typeface="Arial" panose="020B0604020202020204" pitchFamily="34" charset="0"/>
                          <a:ea typeface="+mn-ea"/>
                          <a:cs typeface="Arial" panose="020B0604020202020204" pitchFamily="34" charset="0"/>
                        </a:rPr>
                        <a:t>-coded view of the test results</a:t>
                      </a:r>
                      <a:endParaRPr lang="en-US" sz="1400" kern="1200" dirty="0">
                        <a:solidFill>
                          <a:schemeClr val="tx1"/>
                        </a:solidFill>
                        <a:latin typeface="Arial" panose="020B0604020202020204" pitchFamily="34" charset="0"/>
                        <a:ea typeface="+mn-ea"/>
                        <a:cs typeface="Arial" panose="020B0604020202020204" pitchFamily="34" charset="0"/>
                      </a:endParaRPr>
                    </a:p>
                    <a:p>
                      <a:pPr>
                        <a:buFont typeface="Arial" panose="020B0604020202020204" pitchFamily="34" charset="0"/>
                        <a:buChar char="•"/>
                      </a:pPr>
                      <a:r>
                        <a:rPr lang="en-US" sz="1400" kern="1200" dirty="0">
                          <a:solidFill>
                            <a:schemeClr val="tx1"/>
                          </a:solidFill>
                          <a:latin typeface="Arial" panose="020B0604020202020204" pitchFamily="34" charset="0"/>
                          <a:ea typeface="+mn-ea"/>
                          <a:cs typeface="Arial" panose="020B0604020202020204" pitchFamily="34" charset="0"/>
                        </a:rPr>
                        <a:t> </a:t>
                      </a:r>
                      <a:r>
                        <a:rPr lang="en-US" sz="1400" kern="1200" dirty="0" smtClean="0">
                          <a:solidFill>
                            <a:schemeClr val="tx1"/>
                          </a:solidFill>
                          <a:latin typeface="Arial" panose="020B0604020202020204" pitchFamily="34" charset="0"/>
                          <a:ea typeface="+mn-ea"/>
                          <a:cs typeface="Arial" panose="020B0604020202020204" pitchFamily="34" charset="0"/>
                        </a:rPr>
                        <a:t>Generates 100% valid XHTML 1.0 files. The output can be </a:t>
                      </a:r>
                      <a:r>
                        <a:rPr lang="en-US" sz="1400" kern="1200" dirty="0" err="1" smtClean="0">
                          <a:solidFill>
                            <a:schemeClr val="tx1"/>
                          </a:solidFill>
                          <a:latin typeface="Arial" panose="020B0604020202020204" pitchFamily="34" charset="0"/>
                          <a:ea typeface="+mn-ea"/>
                          <a:cs typeface="Arial" panose="020B0604020202020204" pitchFamily="34" charset="0"/>
                        </a:rPr>
                        <a:t>customised</a:t>
                      </a:r>
                      <a:r>
                        <a:rPr lang="en-US" sz="1400" kern="1200" dirty="0" smtClean="0">
                          <a:solidFill>
                            <a:schemeClr val="tx1"/>
                          </a:solidFill>
                          <a:latin typeface="Arial" panose="020B0604020202020204" pitchFamily="34" charset="0"/>
                          <a:ea typeface="+mn-ea"/>
                          <a:cs typeface="Arial" panose="020B0604020202020204" pitchFamily="34" charset="0"/>
                        </a:rPr>
                        <a:t> by over-riding the default stylesheet with your own CSS file</a:t>
                      </a:r>
                      <a:endParaRPr lang="en-US" sz="1400" kern="1200" dirty="0">
                        <a:solidFill>
                          <a:schemeClr val="tx1"/>
                        </a:solidFill>
                        <a:latin typeface="Arial" panose="020B0604020202020204" pitchFamily="34" charset="0"/>
                        <a:ea typeface="+mn-ea"/>
                        <a:cs typeface="Arial" panose="020B0604020202020204" pitchFamily="34" charset="0"/>
                      </a:endParaRPr>
                    </a:p>
                    <a:p>
                      <a:pPr>
                        <a:buFont typeface="Arial" panose="020B0604020202020204" pitchFamily="34" charset="0"/>
                        <a:buChar char="•"/>
                      </a:pPr>
                      <a:r>
                        <a:rPr lang="en-US" sz="1400" kern="1200" dirty="0">
                          <a:solidFill>
                            <a:schemeClr val="tx1"/>
                          </a:solidFill>
                          <a:latin typeface="Arial" panose="020B0604020202020204" pitchFamily="34" charset="0"/>
                          <a:ea typeface="+mn-ea"/>
                          <a:cs typeface="Arial" panose="020B0604020202020204" pitchFamily="34" charset="0"/>
                        </a:rPr>
                        <a:t> </a:t>
                      </a:r>
                      <a:r>
                        <a:rPr lang="en-US" sz="1400" kern="1200" dirty="0" smtClean="0">
                          <a:solidFill>
                            <a:schemeClr val="tx1"/>
                          </a:solidFill>
                          <a:latin typeface="Arial" panose="020B0604020202020204" pitchFamily="34" charset="0"/>
                          <a:ea typeface="+mn-ea"/>
                          <a:cs typeface="Arial" panose="020B0604020202020204" pitchFamily="34" charset="0"/>
                        </a:rPr>
                        <a:t>The </a:t>
                      </a:r>
                      <a:r>
                        <a:rPr lang="en-US" sz="1400" kern="1200" dirty="0" err="1" smtClean="0">
                          <a:solidFill>
                            <a:schemeClr val="tx1"/>
                          </a:solidFill>
                          <a:latin typeface="Arial" panose="020B0604020202020204" pitchFamily="34" charset="0"/>
                          <a:ea typeface="+mn-ea"/>
                          <a:cs typeface="Arial" panose="020B0604020202020204" pitchFamily="34" charset="0"/>
                        </a:rPr>
                        <a:t>ReportNG</a:t>
                      </a:r>
                      <a:r>
                        <a:rPr lang="en-US" sz="1400" kern="1200" dirty="0" smtClean="0">
                          <a:solidFill>
                            <a:schemeClr val="tx1"/>
                          </a:solidFill>
                          <a:latin typeface="Arial" panose="020B0604020202020204" pitchFamily="34" charset="0"/>
                          <a:ea typeface="+mn-ea"/>
                          <a:cs typeface="Arial" panose="020B0604020202020204" pitchFamily="34" charset="0"/>
                        </a:rPr>
                        <a:t> implementation maps each test class to a single &lt;</a:t>
                      </a:r>
                      <a:r>
                        <a:rPr lang="en-US" sz="1400" kern="1200" dirty="0" err="1" smtClean="0">
                          <a:solidFill>
                            <a:schemeClr val="tx1"/>
                          </a:solidFill>
                          <a:latin typeface="Arial" panose="020B0604020202020204" pitchFamily="34" charset="0"/>
                          <a:ea typeface="+mn-ea"/>
                          <a:cs typeface="Arial" panose="020B0604020202020204" pitchFamily="34" charset="0"/>
                        </a:rPr>
                        <a:t>testsuite</a:t>
                      </a:r>
                      <a:r>
                        <a:rPr lang="en-US" sz="1400" kern="1200" dirty="0" smtClean="0">
                          <a:solidFill>
                            <a:schemeClr val="tx1"/>
                          </a:solidFill>
                          <a:latin typeface="Arial" panose="020B0604020202020204" pitchFamily="34" charset="0"/>
                          <a:ea typeface="+mn-ea"/>
                          <a:cs typeface="Arial" panose="020B0604020202020204" pitchFamily="34" charset="0"/>
                        </a:rPr>
                        <a:t>&gt; element, resulting in one XML file per test class</a:t>
                      </a:r>
                      <a:r>
                        <a:rPr lang="en-US" sz="1400" kern="1200" dirty="0">
                          <a:solidFill>
                            <a:schemeClr val="tx1"/>
                          </a:solidFill>
                          <a:latin typeface="Arial" panose="020B0604020202020204" pitchFamily="34" charset="0"/>
                          <a:ea typeface="+mn-ea"/>
                          <a:cs typeface="Arial" panose="020B0604020202020204" pitchFamily="34" charset="0"/>
                        </a:rPr>
                        <a:t> </a:t>
                      </a:r>
                    </a:p>
                    <a:p>
                      <a:pPr>
                        <a:buFont typeface="Arial" panose="020B0604020202020204" pitchFamily="34" charset="0"/>
                        <a:buChar char="•"/>
                      </a:pPr>
                      <a:r>
                        <a:rPr lang="en-US" sz="1400" kern="1200" dirty="0">
                          <a:solidFill>
                            <a:schemeClr val="tx1"/>
                          </a:solidFill>
                          <a:latin typeface="Arial" panose="020B0604020202020204" pitchFamily="34" charset="0"/>
                          <a:ea typeface="+mn-ea"/>
                          <a:cs typeface="Arial" panose="020B0604020202020204" pitchFamily="34" charset="0"/>
                        </a:rPr>
                        <a:t> </a:t>
                      </a:r>
                      <a:r>
                        <a:rPr lang="en-US" sz="1400" kern="1200" dirty="0" smtClean="0">
                          <a:solidFill>
                            <a:schemeClr val="tx1"/>
                          </a:solidFill>
                          <a:latin typeface="Arial" panose="020B0604020202020204" pitchFamily="34" charset="0"/>
                          <a:ea typeface="+mn-ea"/>
                          <a:cs typeface="Arial" panose="020B0604020202020204" pitchFamily="34" charset="0"/>
                        </a:rPr>
                        <a:t>Includes a second reporter that produces JUnit format XML output. This enables </a:t>
                      </a:r>
                      <a:r>
                        <a:rPr lang="en-US" sz="1400" kern="1200" dirty="0" err="1" smtClean="0">
                          <a:solidFill>
                            <a:schemeClr val="tx1"/>
                          </a:solidFill>
                          <a:latin typeface="Arial" panose="020B0604020202020204" pitchFamily="34" charset="0"/>
                          <a:ea typeface="+mn-ea"/>
                          <a:cs typeface="Arial" panose="020B0604020202020204" pitchFamily="34" charset="0"/>
                        </a:rPr>
                        <a:t>TestNG</a:t>
                      </a:r>
                      <a:r>
                        <a:rPr lang="en-US" sz="1400" kern="1200" dirty="0" smtClean="0">
                          <a:solidFill>
                            <a:schemeClr val="tx1"/>
                          </a:solidFill>
                          <a:latin typeface="Arial" panose="020B0604020202020204" pitchFamily="34" charset="0"/>
                          <a:ea typeface="+mn-ea"/>
                          <a:cs typeface="Arial" panose="020B0604020202020204" pitchFamily="34" charset="0"/>
                        </a:rPr>
                        <a:t> to integrate with tools, such as Hudson, that understand these XML files</a:t>
                      </a:r>
                      <a:endParaRPr lang="en-US" sz="1400" kern="1200" dirty="0">
                        <a:solidFill>
                          <a:schemeClr val="tx1"/>
                        </a:solidFill>
                        <a:latin typeface="Arial" panose="020B0604020202020204" pitchFamily="34" charset="0"/>
                        <a:ea typeface="+mn-ea"/>
                        <a:cs typeface="Arial" panose="020B0604020202020204" pitchFamily="34" charset="0"/>
                      </a:endParaRPr>
                    </a:p>
                  </a:txBody>
                  <a:tcPr marL="39462" marR="394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462374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476672"/>
            <a:ext cx="7488832" cy="437728"/>
          </a:xfrm>
        </p:spPr>
        <p:txBody>
          <a:bodyPr>
            <a:noAutofit/>
          </a:bodyPr>
          <a:lstStyle/>
          <a:p>
            <a:r>
              <a:rPr lang="en-US" sz="4000" dirty="0"/>
              <a:t>Report samples</a:t>
            </a:r>
            <a:endParaRPr lang="en-US" sz="4000" dirty="0"/>
          </a:p>
        </p:txBody>
      </p:sp>
      <p:sp>
        <p:nvSpPr>
          <p:cNvPr id="3" name="Content Placeholder 2"/>
          <p:cNvSpPr>
            <a:spLocks noGrp="1"/>
          </p:cNvSpPr>
          <p:nvPr>
            <p:ph idx="1"/>
          </p:nvPr>
        </p:nvSpPr>
        <p:spPr>
          <a:xfrm>
            <a:off x="899592" y="838201"/>
            <a:ext cx="7488832" cy="5029200"/>
          </a:xfrm>
        </p:spPr>
        <p:txBody>
          <a:bodyPr>
            <a:normAutofit/>
          </a:bodyPr>
          <a:lstStyle/>
          <a:p>
            <a:pPr marL="0" indent="0">
              <a:buNone/>
            </a:pPr>
            <a:r>
              <a:rPr lang="en-US" sz="2000" u="sng" dirty="0" err="1" smtClean="0"/>
              <a:t>ReportNG</a:t>
            </a:r>
            <a:r>
              <a:rPr lang="en-US" sz="2000" u="sng" dirty="0" smtClean="0"/>
              <a:t>: </a:t>
            </a:r>
          </a:p>
          <a:p>
            <a:pPr marL="0" indent="0">
              <a:buNone/>
            </a:pPr>
            <a:endParaRPr lang="en-US" sz="2000" u="sng" dirty="0"/>
          </a:p>
          <a:p>
            <a:pPr marL="0" indent="0">
              <a:buNone/>
            </a:pPr>
            <a:endParaRPr lang="en-US" sz="2000" u="sng" dirty="0" smtClean="0"/>
          </a:p>
          <a:p>
            <a:pPr marL="0" indent="0">
              <a:buNone/>
            </a:pPr>
            <a:endParaRPr lang="en-US" sz="2000" u="sng" dirty="0"/>
          </a:p>
          <a:p>
            <a:pPr marL="0" indent="0">
              <a:buNone/>
            </a:pPr>
            <a:endParaRPr lang="en-US" sz="2000" u="sng" dirty="0" smtClean="0"/>
          </a:p>
          <a:p>
            <a:pPr marL="0" indent="0">
              <a:buNone/>
            </a:pPr>
            <a:endParaRPr lang="en-US" sz="2000" u="sng" dirty="0"/>
          </a:p>
          <a:p>
            <a:pPr marL="0" indent="0">
              <a:buNone/>
            </a:pPr>
            <a:endParaRPr lang="en-US" sz="2000" u="sng" dirty="0" smtClean="0"/>
          </a:p>
          <a:p>
            <a:pPr marL="0" indent="0">
              <a:buNone/>
            </a:pPr>
            <a:endParaRPr lang="en-US" sz="2000" u="sng" dirty="0"/>
          </a:p>
          <a:p>
            <a:pPr marL="0" indent="0">
              <a:buNone/>
            </a:pPr>
            <a:endParaRPr lang="en-US" sz="2000" u="sng" dirty="0" smtClean="0"/>
          </a:p>
          <a:p>
            <a:pPr marL="0" indent="0">
              <a:buNone/>
            </a:pPr>
            <a:endParaRPr lang="en-US" sz="2000" u="sng"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69" y="1676400"/>
            <a:ext cx="7302167" cy="2457872"/>
          </a:xfrm>
          <a:prstGeom prst="rect">
            <a:avLst/>
          </a:prstGeom>
        </p:spPr>
      </p:pic>
    </p:spTree>
    <p:extLst>
      <p:ext uri="{BB962C8B-B14F-4D97-AF65-F5344CB8AC3E}">
        <p14:creationId xmlns:p14="http://schemas.microsoft.com/office/powerpoint/2010/main" val="19946716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99592" y="228600"/>
            <a:ext cx="7488832" cy="5897563"/>
          </a:xfrm>
        </p:spPr>
        <p:txBody>
          <a:bodyPr/>
          <a:lstStyle/>
          <a:p>
            <a:pPr marL="0" indent="0" algn="ctr">
              <a:buNone/>
            </a:pPr>
            <a:r>
              <a:rPr lang="en-US" sz="4000" dirty="0">
                <a:solidFill>
                  <a:srgbClr val="68AD45"/>
                </a:solidFill>
                <a:latin typeface="Casper" pitchFamily="2" charset="0"/>
                <a:ea typeface="+mj-ea"/>
                <a:cs typeface="+mj-cs"/>
              </a:rPr>
              <a:t>Cucumber and XSLT:</a:t>
            </a:r>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6603" y="762000"/>
            <a:ext cx="2754754" cy="5132736"/>
          </a:xfrm>
          <a:prstGeom prst="rect">
            <a:avLst/>
          </a:prstGeom>
        </p:spPr>
      </p:pic>
    </p:spTree>
    <p:extLst>
      <p:ext uri="{BB962C8B-B14F-4D97-AF65-F5344CB8AC3E}">
        <p14:creationId xmlns:p14="http://schemas.microsoft.com/office/powerpoint/2010/main" val="385751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System diagram</a:t>
            </a:r>
          </a:p>
        </p:txBody>
      </p:sp>
      <p:sp>
        <p:nvSpPr>
          <p:cNvPr id="4" name="Rectangle 3"/>
          <p:cNvSpPr/>
          <p:nvPr/>
        </p:nvSpPr>
        <p:spPr>
          <a:xfrm>
            <a:off x="5410201" y="4266308"/>
            <a:ext cx="1066800" cy="706729"/>
          </a:xfrm>
          <a:prstGeom prst="rect">
            <a:avLst/>
          </a:prstGeom>
          <a:scene3d>
            <a:camera prst="obliqueTopRight"/>
            <a:lightRig rig="threePt" dir="t"/>
          </a:scene3d>
          <a:sp3d extrusionH="920750" contourW="12700" prstMaterial="powder">
            <a:extrusionClr>
              <a:schemeClr val="bg1"/>
            </a:extrusionClr>
            <a:contourClr>
              <a:schemeClr val="tx1"/>
            </a:contourClr>
          </a:sp3d>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5461363" y="4474145"/>
            <a:ext cx="964474" cy="291054"/>
          </a:xfrm>
          <a:prstGeom prst="rect">
            <a:avLst/>
          </a:prstGeom>
        </p:spPr>
      </p:pic>
      <p:sp>
        <p:nvSpPr>
          <p:cNvPr id="7" name="Rectangle 6"/>
          <p:cNvSpPr/>
          <p:nvPr/>
        </p:nvSpPr>
        <p:spPr>
          <a:xfrm>
            <a:off x="1028700" y="1422387"/>
            <a:ext cx="1066800" cy="606538"/>
          </a:xfrm>
          <a:prstGeom prst="rect">
            <a:avLst/>
          </a:prstGeom>
          <a:scene3d>
            <a:camera prst="obliqueTopRight"/>
            <a:lightRig rig="threePt" dir="t"/>
          </a:scene3d>
          <a:sp3d extrusionH="920750" contourW="12700" prstMaterial="powder">
            <a:extrusionClr>
              <a:schemeClr val="bg1"/>
            </a:extrusionClr>
            <a:contourClr>
              <a:schemeClr val="tx1"/>
            </a:contourClr>
          </a:sp3d>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t>Web server</a:t>
            </a:r>
            <a:endParaRPr lang="en-US" sz="1200" dirty="0"/>
          </a:p>
        </p:txBody>
      </p:sp>
      <p:sp>
        <p:nvSpPr>
          <p:cNvPr id="8" name="Rectangle 7"/>
          <p:cNvSpPr/>
          <p:nvPr/>
        </p:nvSpPr>
        <p:spPr>
          <a:xfrm>
            <a:off x="3200400" y="1408929"/>
            <a:ext cx="1066800" cy="606538"/>
          </a:xfrm>
          <a:prstGeom prst="rect">
            <a:avLst/>
          </a:prstGeom>
          <a:scene3d>
            <a:camera prst="obliqueTopRight"/>
            <a:lightRig rig="threePt" dir="t"/>
          </a:scene3d>
          <a:sp3d extrusionH="920750" contourW="12700" prstMaterial="powder">
            <a:extrusionClr>
              <a:schemeClr val="bg1"/>
            </a:extrusionClr>
            <a:contourClr>
              <a:schemeClr val="tx1"/>
            </a:contourClr>
          </a:sp3d>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t>Application</a:t>
            </a:r>
            <a:endParaRPr lang="en-US" sz="1200" dirty="0"/>
          </a:p>
        </p:txBody>
      </p:sp>
      <p:sp>
        <p:nvSpPr>
          <p:cNvPr id="9" name="Up Arrow 8"/>
          <p:cNvSpPr/>
          <p:nvPr/>
        </p:nvSpPr>
        <p:spPr>
          <a:xfrm>
            <a:off x="5867400" y="2028925"/>
            <a:ext cx="190500" cy="594927"/>
          </a:xfrm>
          <a:prstGeom prst="up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Right Arrow 9"/>
          <p:cNvSpPr/>
          <p:nvPr/>
        </p:nvSpPr>
        <p:spPr>
          <a:xfrm>
            <a:off x="4476207" y="1582096"/>
            <a:ext cx="914399" cy="168472"/>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410200" y="1408929"/>
            <a:ext cx="1066800" cy="606538"/>
          </a:xfrm>
          <a:prstGeom prst="rect">
            <a:avLst/>
          </a:prstGeom>
          <a:scene3d>
            <a:camera prst="obliqueTopRight"/>
            <a:lightRig rig="threePt" dir="t"/>
          </a:scene3d>
          <a:sp3d extrusionH="920750" contourW="12700" prstMaterial="powder">
            <a:extrusionClr>
              <a:schemeClr val="bg1"/>
            </a:extrusionClr>
            <a:contourClr>
              <a:schemeClr val="tx1"/>
            </a:contourClr>
          </a:sp3d>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t>Browser</a:t>
            </a:r>
            <a:endParaRPr lang="en-US" sz="1200" dirty="0"/>
          </a:p>
        </p:txBody>
      </p:sp>
      <p:sp>
        <p:nvSpPr>
          <p:cNvPr id="12" name="Rectangle 11"/>
          <p:cNvSpPr/>
          <p:nvPr/>
        </p:nvSpPr>
        <p:spPr>
          <a:xfrm>
            <a:off x="5410200" y="2837619"/>
            <a:ext cx="1066800" cy="606538"/>
          </a:xfrm>
          <a:prstGeom prst="rect">
            <a:avLst/>
          </a:prstGeom>
          <a:scene3d>
            <a:camera prst="obliqueTopRight"/>
            <a:lightRig rig="threePt" dir="t"/>
          </a:scene3d>
          <a:sp3d extrusionH="920750" contourW="12700" prstMaterial="powder">
            <a:extrusionClr>
              <a:schemeClr val="bg1"/>
            </a:extrusionClr>
            <a:contourClr>
              <a:schemeClr val="tx1"/>
            </a:contourClr>
          </a:sp3d>
        </p:spPr>
        <p:style>
          <a:lnRef idx="2">
            <a:schemeClr val="dk1"/>
          </a:lnRef>
          <a:fillRef idx="1">
            <a:schemeClr val="lt1"/>
          </a:fillRef>
          <a:effectRef idx="0">
            <a:schemeClr val="dk1"/>
          </a:effectRef>
          <a:fontRef idx="minor">
            <a:schemeClr val="dk1"/>
          </a:fontRef>
        </p:style>
        <p:txBody>
          <a:bodyPr rtlCol="0" anchor="ctr"/>
          <a:lstStyle/>
          <a:p>
            <a:pPr algn="ctr"/>
            <a:endParaRPr lang="en-US" sz="1200" dirty="0"/>
          </a:p>
        </p:txBody>
      </p:sp>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70933" y="2837619"/>
            <a:ext cx="675959" cy="611743"/>
          </a:xfrm>
          <a:prstGeom prst="rect">
            <a:avLst/>
          </a:prstGeom>
        </p:spPr>
      </p:pic>
      <p:sp>
        <p:nvSpPr>
          <p:cNvPr id="15" name="Right Arrow 14"/>
          <p:cNvSpPr/>
          <p:nvPr/>
        </p:nvSpPr>
        <p:spPr>
          <a:xfrm>
            <a:off x="2324100" y="1582095"/>
            <a:ext cx="838200" cy="167113"/>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Up Arrow 15"/>
          <p:cNvSpPr/>
          <p:nvPr/>
        </p:nvSpPr>
        <p:spPr>
          <a:xfrm rot="3193034">
            <a:off x="4942986" y="2830027"/>
            <a:ext cx="183798" cy="847793"/>
          </a:xfrm>
          <a:prstGeom prst="up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8" name="Picture 1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11202" y="4058470"/>
            <a:ext cx="1177222" cy="918521"/>
          </a:xfrm>
          <a:prstGeom prst="rect">
            <a:avLst/>
          </a:prstGeom>
        </p:spPr>
      </p:pic>
      <p:sp>
        <p:nvSpPr>
          <p:cNvPr id="19" name="Right Arrow 18"/>
          <p:cNvSpPr/>
          <p:nvPr/>
        </p:nvSpPr>
        <p:spPr>
          <a:xfrm>
            <a:off x="6705600" y="4445342"/>
            <a:ext cx="685800" cy="174330"/>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449953" y="3581350"/>
            <a:ext cx="1066800" cy="706729"/>
          </a:xfrm>
          <a:prstGeom prst="rect">
            <a:avLst/>
          </a:prstGeom>
          <a:scene3d>
            <a:camera prst="obliqueTopRight"/>
            <a:lightRig rig="threePt" dir="t"/>
          </a:scene3d>
          <a:sp3d extrusionH="920750" contourW="12700" prstMaterial="powder">
            <a:extrusionClr>
              <a:schemeClr val="bg1"/>
            </a:extrusionClr>
            <a:contourClr>
              <a:schemeClr val="tx1"/>
            </a:contourClr>
          </a:sp3d>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pic>
        <p:nvPicPr>
          <p:cNvPr id="21" name="Picture 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16640" y="3568001"/>
            <a:ext cx="733425" cy="733425"/>
          </a:xfrm>
          <a:prstGeom prst="rect">
            <a:avLst/>
          </a:prstGeom>
        </p:spPr>
      </p:pic>
      <p:sp>
        <p:nvSpPr>
          <p:cNvPr id="22" name="Left-Right Arrow 21"/>
          <p:cNvSpPr/>
          <p:nvPr/>
        </p:nvSpPr>
        <p:spPr>
          <a:xfrm rot="1660135">
            <a:off x="4612108" y="4306231"/>
            <a:ext cx="818726" cy="144104"/>
          </a:xfrm>
          <a:prstGeom prst="lef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p:cNvSpPr txBox="1"/>
          <p:nvPr/>
        </p:nvSpPr>
        <p:spPr>
          <a:xfrm rot="19411049">
            <a:off x="4625462" y="2926498"/>
            <a:ext cx="654630" cy="307777"/>
          </a:xfrm>
          <a:prstGeom prst="rect">
            <a:avLst/>
          </a:prstGeom>
          <a:noFill/>
        </p:spPr>
        <p:txBody>
          <a:bodyPr wrap="square" rtlCol="0">
            <a:spAutoFit/>
          </a:bodyPr>
          <a:lstStyle/>
          <a:p>
            <a:r>
              <a:rPr lang="en-US" sz="1400" dirty="0" smtClean="0"/>
              <a:t>Test</a:t>
            </a:r>
            <a:endParaRPr lang="en-US" sz="1400" dirty="0"/>
          </a:p>
        </p:txBody>
      </p:sp>
      <p:sp>
        <p:nvSpPr>
          <p:cNvPr id="24" name="TextBox 23"/>
          <p:cNvSpPr txBox="1"/>
          <p:nvPr/>
        </p:nvSpPr>
        <p:spPr>
          <a:xfrm rot="1550401">
            <a:off x="4712858" y="4034824"/>
            <a:ext cx="753232" cy="307777"/>
          </a:xfrm>
          <a:prstGeom prst="rect">
            <a:avLst/>
          </a:prstGeom>
          <a:noFill/>
        </p:spPr>
        <p:txBody>
          <a:bodyPr wrap="square" rtlCol="0">
            <a:spAutoFit/>
          </a:bodyPr>
          <a:lstStyle/>
          <a:p>
            <a:r>
              <a:rPr lang="en-US" sz="1400" dirty="0" smtClean="0"/>
              <a:t>Feature</a:t>
            </a:r>
            <a:endParaRPr lang="en-US" sz="1400" dirty="0"/>
          </a:p>
        </p:txBody>
      </p:sp>
      <p:sp>
        <p:nvSpPr>
          <p:cNvPr id="25" name="TextBox 24"/>
          <p:cNvSpPr txBox="1"/>
          <p:nvPr/>
        </p:nvSpPr>
        <p:spPr>
          <a:xfrm>
            <a:off x="6736770" y="4209953"/>
            <a:ext cx="654630" cy="307777"/>
          </a:xfrm>
          <a:prstGeom prst="rect">
            <a:avLst/>
          </a:prstGeom>
          <a:noFill/>
        </p:spPr>
        <p:txBody>
          <a:bodyPr wrap="square" rtlCol="0">
            <a:spAutoFit/>
          </a:bodyPr>
          <a:lstStyle/>
          <a:p>
            <a:r>
              <a:rPr lang="en-US" sz="1400" dirty="0" smtClean="0"/>
              <a:t>XSLT</a:t>
            </a:r>
            <a:endParaRPr lang="en-US" sz="1400" dirty="0"/>
          </a:p>
        </p:txBody>
      </p:sp>
      <p:sp>
        <p:nvSpPr>
          <p:cNvPr id="26" name="Rectangle 25"/>
          <p:cNvSpPr/>
          <p:nvPr/>
        </p:nvSpPr>
        <p:spPr>
          <a:xfrm>
            <a:off x="3449953" y="5334000"/>
            <a:ext cx="969648" cy="454138"/>
          </a:xfrm>
          <a:prstGeom prst="rect">
            <a:avLst/>
          </a:prstGeom>
          <a:scene3d>
            <a:camera prst="obliqueTopRight"/>
            <a:lightRig rig="threePt" dir="t"/>
          </a:scene3d>
          <a:sp3d extrusionH="920750" contourW="12700" prstMaterial="powder">
            <a:extrusionClr>
              <a:schemeClr val="bg1"/>
            </a:extrusionClr>
            <a:contourClr>
              <a:schemeClr val="tx1"/>
            </a:contourClr>
          </a:sp3d>
        </p:spPr>
        <p:style>
          <a:lnRef idx="2">
            <a:schemeClr val="dk1"/>
          </a:lnRef>
          <a:fillRef idx="1">
            <a:schemeClr val="lt1"/>
          </a:fillRef>
          <a:effectRef idx="0">
            <a:schemeClr val="dk1"/>
          </a:effectRef>
          <a:fontRef idx="minor">
            <a:schemeClr val="dk1"/>
          </a:fontRef>
        </p:style>
        <p:txBody>
          <a:bodyPr rtlCol="0" anchor="ctr"/>
          <a:lstStyle/>
          <a:p>
            <a:pPr algn="ctr"/>
            <a:endParaRPr lang="en-US" sz="1200" dirty="0"/>
          </a:p>
        </p:txBody>
      </p:sp>
      <p:sp>
        <p:nvSpPr>
          <p:cNvPr id="28" name="Down Arrow 27"/>
          <p:cNvSpPr/>
          <p:nvPr/>
        </p:nvSpPr>
        <p:spPr>
          <a:xfrm>
            <a:off x="3953593" y="4314775"/>
            <a:ext cx="161208" cy="803974"/>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743351" y="5362587"/>
            <a:ext cx="584711" cy="392632"/>
          </a:xfrm>
          <a:prstGeom prst="rect">
            <a:avLst/>
          </a:prstGeom>
        </p:spPr>
      </p:pic>
      <p:sp>
        <p:nvSpPr>
          <p:cNvPr id="30" name="TextBox 29"/>
          <p:cNvSpPr txBox="1"/>
          <p:nvPr/>
        </p:nvSpPr>
        <p:spPr>
          <a:xfrm rot="1550401">
            <a:off x="4622087" y="4405577"/>
            <a:ext cx="753232" cy="307777"/>
          </a:xfrm>
          <a:prstGeom prst="rect">
            <a:avLst/>
          </a:prstGeom>
          <a:noFill/>
        </p:spPr>
        <p:txBody>
          <a:bodyPr wrap="square" rtlCol="0">
            <a:spAutoFit/>
          </a:bodyPr>
          <a:lstStyle/>
          <a:p>
            <a:r>
              <a:rPr lang="en-US" sz="1400" dirty="0" smtClean="0"/>
              <a:t>JUnit</a:t>
            </a:r>
            <a:endParaRPr lang="en-US" sz="1400" dirty="0"/>
          </a:p>
        </p:txBody>
      </p:sp>
      <p:pic>
        <p:nvPicPr>
          <p:cNvPr id="31" name="Picture 3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95500" y="5025791"/>
            <a:ext cx="673284" cy="869907"/>
          </a:xfrm>
          <a:prstGeom prst="rect">
            <a:avLst/>
          </a:prstGeom>
        </p:spPr>
      </p:pic>
      <p:sp>
        <p:nvSpPr>
          <p:cNvPr id="32" name="Left Arrow 31"/>
          <p:cNvSpPr/>
          <p:nvPr/>
        </p:nvSpPr>
        <p:spPr>
          <a:xfrm>
            <a:off x="2743200" y="5460745"/>
            <a:ext cx="630553" cy="196316"/>
          </a:xfrm>
          <a:prstGeom prst="lef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1028700" y="2853612"/>
            <a:ext cx="1066800" cy="606538"/>
          </a:xfrm>
          <a:prstGeom prst="rect">
            <a:avLst/>
          </a:prstGeom>
          <a:scene3d>
            <a:camera prst="obliqueTopRight"/>
            <a:lightRig rig="threePt" dir="t"/>
          </a:scene3d>
          <a:sp3d extrusionH="920750" contourW="12700" prstMaterial="powder">
            <a:extrusionClr>
              <a:schemeClr val="bg1"/>
            </a:extrusionClr>
            <a:contourClr>
              <a:schemeClr val="tx1"/>
            </a:contourClr>
          </a:sp3d>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t>GitHub</a:t>
            </a:r>
            <a:endParaRPr lang="en-US" sz="1200" dirty="0"/>
          </a:p>
        </p:txBody>
      </p:sp>
      <p:sp>
        <p:nvSpPr>
          <p:cNvPr id="34" name="Rectangle 33"/>
          <p:cNvSpPr/>
          <p:nvPr/>
        </p:nvSpPr>
        <p:spPr>
          <a:xfrm>
            <a:off x="1028700" y="4328920"/>
            <a:ext cx="1066800" cy="606538"/>
          </a:xfrm>
          <a:prstGeom prst="rect">
            <a:avLst/>
          </a:prstGeom>
          <a:scene3d>
            <a:camera prst="obliqueTopRight"/>
            <a:lightRig rig="threePt" dir="t"/>
          </a:scene3d>
          <a:sp3d extrusionH="920750" contourW="12700" prstMaterial="powder">
            <a:extrusionClr>
              <a:schemeClr val="bg1"/>
            </a:extrusionClr>
            <a:contourClr>
              <a:schemeClr val="tx1"/>
            </a:contourClr>
          </a:sp3d>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t>Maven</a:t>
            </a:r>
            <a:endParaRPr lang="en-US" sz="1200" dirty="0"/>
          </a:p>
        </p:txBody>
      </p:sp>
      <p:sp>
        <p:nvSpPr>
          <p:cNvPr id="35" name="Up Arrow 34"/>
          <p:cNvSpPr/>
          <p:nvPr/>
        </p:nvSpPr>
        <p:spPr>
          <a:xfrm>
            <a:off x="1466850" y="2039099"/>
            <a:ext cx="190500" cy="594927"/>
          </a:xfrm>
          <a:prstGeom prst="up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7" name="Right Arrow 36"/>
          <p:cNvSpPr/>
          <p:nvPr/>
        </p:nvSpPr>
        <p:spPr>
          <a:xfrm rot="892150">
            <a:off x="2311745" y="3343596"/>
            <a:ext cx="1125853" cy="131826"/>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p:cNvSpPr txBox="1"/>
          <p:nvPr/>
        </p:nvSpPr>
        <p:spPr>
          <a:xfrm rot="842798">
            <a:off x="2446103" y="3091745"/>
            <a:ext cx="753232" cy="307777"/>
          </a:xfrm>
          <a:prstGeom prst="rect">
            <a:avLst/>
          </a:prstGeom>
          <a:noFill/>
        </p:spPr>
        <p:txBody>
          <a:bodyPr wrap="square" rtlCol="0">
            <a:spAutoFit/>
          </a:bodyPr>
          <a:lstStyle/>
          <a:p>
            <a:r>
              <a:rPr lang="en-US" sz="1400" dirty="0" smtClean="0"/>
              <a:t>Code</a:t>
            </a:r>
          </a:p>
        </p:txBody>
      </p:sp>
      <p:sp>
        <p:nvSpPr>
          <p:cNvPr id="39" name="TextBox 38"/>
          <p:cNvSpPr txBox="1"/>
          <p:nvPr/>
        </p:nvSpPr>
        <p:spPr>
          <a:xfrm>
            <a:off x="1028700" y="2237839"/>
            <a:ext cx="753232" cy="307777"/>
          </a:xfrm>
          <a:prstGeom prst="rect">
            <a:avLst/>
          </a:prstGeom>
          <a:noFill/>
        </p:spPr>
        <p:txBody>
          <a:bodyPr wrap="square" rtlCol="0">
            <a:spAutoFit/>
          </a:bodyPr>
          <a:lstStyle/>
          <a:p>
            <a:r>
              <a:rPr lang="en-US" sz="1400" dirty="0" smtClean="0"/>
              <a:t>Code</a:t>
            </a:r>
          </a:p>
        </p:txBody>
      </p:sp>
      <p:sp>
        <p:nvSpPr>
          <p:cNvPr id="41" name="Right Arrow 40"/>
          <p:cNvSpPr/>
          <p:nvPr/>
        </p:nvSpPr>
        <p:spPr>
          <a:xfrm rot="19878507">
            <a:off x="2288812" y="4201784"/>
            <a:ext cx="1209673" cy="160908"/>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p:cNvSpPr txBox="1"/>
          <p:nvPr/>
        </p:nvSpPr>
        <p:spPr>
          <a:xfrm rot="19868716">
            <a:off x="2280229" y="3991479"/>
            <a:ext cx="809155" cy="307777"/>
          </a:xfrm>
          <a:prstGeom prst="rect">
            <a:avLst/>
          </a:prstGeom>
          <a:noFill/>
        </p:spPr>
        <p:txBody>
          <a:bodyPr wrap="square" rtlCol="0">
            <a:spAutoFit/>
          </a:bodyPr>
          <a:lstStyle/>
          <a:p>
            <a:r>
              <a:rPr lang="en-US" sz="1400" dirty="0" smtClean="0"/>
              <a:t>Libraries</a:t>
            </a:r>
          </a:p>
        </p:txBody>
      </p:sp>
    </p:spTree>
    <p:extLst>
      <p:ext uri="{BB962C8B-B14F-4D97-AF65-F5344CB8AC3E}">
        <p14:creationId xmlns:p14="http://schemas.microsoft.com/office/powerpoint/2010/main" val="241605981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3466" y="228600"/>
            <a:ext cx="7488832" cy="609600"/>
          </a:xfrm>
        </p:spPr>
        <p:txBody>
          <a:bodyPr>
            <a:normAutofit fontScale="90000"/>
          </a:bodyPr>
          <a:lstStyle/>
          <a:p>
            <a:r>
              <a:rPr lang="en-US" dirty="0" smtClean="0"/>
              <a:t>Links, how to run</a:t>
            </a:r>
            <a:endParaRPr lang="en-US" dirty="0"/>
          </a:p>
        </p:txBody>
      </p:sp>
      <p:sp>
        <p:nvSpPr>
          <p:cNvPr id="3" name="Content Placeholder 2"/>
          <p:cNvSpPr>
            <a:spLocks noGrp="1"/>
          </p:cNvSpPr>
          <p:nvPr>
            <p:ph idx="1"/>
          </p:nvPr>
        </p:nvSpPr>
        <p:spPr>
          <a:xfrm>
            <a:off x="899592" y="685800"/>
            <a:ext cx="7488832" cy="5440363"/>
          </a:xfrm>
        </p:spPr>
        <p:txBody>
          <a:bodyPr>
            <a:normAutofit/>
          </a:bodyPr>
          <a:lstStyle/>
          <a:p>
            <a:pPr marL="0" indent="0">
              <a:buNone/>
            </a:pPr>
            <a:r>
              <a:rPr lang="en-US" sz="2400" u="sng" dirty="0" smtClean="0"/>
              <a:t>Links:</a:t>
            </a:r>
          </a:p>
          <a:p>
            <a:r>
              <a:rPr lang="en-US" sz="1400" dirty="0"/>
              <a:t>Eclipse - </a:t>
            </a:r>
            <a:r>
              <a:rPr lang="en-US" sz="1400" dirty="0">
                <a:hlinkClick r:id="rId2"/>
              </a:rPr>
              <a:t>https://eclipse.org/downloads</a:t>
            </a:r>
            <a:r>
              <a:rPr lang="en-US" sz="1400" dirty="0" smtClean="0">
                <a:hlinkClick r:id="rId2"/>
              </a:rPr>
              <a:t>/</a:t>
            </a:r>
            <a:endParaRPr lang="en-US" sz="1400" dirty="0" smtClean="0"/>
          </a:p>
          <a:p>
            <a:r>
              <a:rPr lang="en-US" sz="1400" dirty="0" smtClean="0"/>
              <a:t>Maven plugin </a:t>
            </a:r>
            <a:r>
              <a:rPr lang="en-US" sz="1400" dirty="0"/>
              <a:t>for eclipse - </a:t>
            </a:r>
            <a:r>
              <a:rPr lang="en-US" sz="1400" dirty="0">
                <a:hlinkClick r:id="rId3"/>
              </a:rPr>
              <a:t>http://eclipse.org/m2e</a:t>
            </a:r>
            <a:r>
              <a:rPr lang="en-US" sz="1400" dirty="0" smtClean="0">
                <a:hlinkClick r:id="rId3"/>
              </a:rPr>
              <a:t>/</a:t>
            </a:r>
            <a:endParaRPr lang="en-US" sz="1400" dirty="0" smtClean="0"/>
          </a:p>
          <a:p>
            <a:r>
              <a:rPr lang="en-US" sz="1400" dirty="0" err="1" smtClean="0"/>
              <a:t>Git</a:t>
            </a:r>
            <a:r>
              <a:rPr lang="en-US" sz="1400" dirty="0"/>
              <a:t> - </a:t>
            </a:r>
            <a:r>
              <a:rPr lang="en-US" sz="1400" dirty="0">
                <a:hlinkClick r:id="rId4"/>
              </a:rPr>
              <a:t>http://</a:t>
            </a:r>
            <a:r>
              <a:rPr lang="en-US" sz="1400" dirty="0" smtClean="0">
                <a:hlinkClick r:id="rId4"/>
              </a:rPr>
              <a:t>git-scm.com/downloads</a:t>
            </a:r>
            <a:endParaRPr lang="en-US" sz="1400" dirty="0" smtClean="0"/>
          </a:p>
          <a:p>
            <a:r>
              <a:rPr lang="en-US" sz="1400" dirty="0" smtClean="0"/>
              <a:t>Source code for demo </a:t>
            </a:r>
            <a:r>
              <a:rPr lang="en-US" sz="1400" dirty="0"/>
              <a:t>- </a:t>
            </a:r>
            <a:r>
              <a:rPr lang="en-US" sz="1400" dirty="0">
                <a:hlinkClick r:id="rId5"/>
              </a:rPr>
              <a:t>https://</a:t>
            </a:r>
            <a:r>
              <a:rPr lang="en-US" sz="1400" dirty="0" smtClean="0">
                <a:hlinkClick r:id="rId5"/>
              </a:rPr>
              <a:t>git.lohika.com/qa-automation/qa-automation-demo/tree/master/WebDriver</a:t>
            </a:r>
            <a:endParaRPr lang="en-US" sz="1400" dirty="0" smtClean="0"/>
          </a:p>
          <a:p>
            <a:pPr marL="0" indent="0">
              <a:buNone/>
            </a:pPr>
            <a:endParaRPr lang="en-US" sz="1200" dirty="0" smtClean="0"/>
          </a:p>
          <a:p>
            <a:pPr marL="0" indent="0">
              <a:buNone/>
            </a:pPr>
            <a:r>
              <a:rPr lang="en-US" sz="2400" u="sng" dirty="0"/>
              <a:t>How to run automation </a:t>
            </a:r>
            <a:r>
              <a:rPr lang="en-US" sz="2400" u="sng" dirty="0" smtClean="0"/>
              <a:t>demo:</a:t>
            </a:r>
          </a:p>
          <a:p>
            <a:pPr marL="228600" indent="-228600">
              <a:buFont typeface="+mj-lt"/>
              <a:buAutoNum type="arabicPeriod"/>
            </a:pPr>
            <a:r>
              <a:rPr lang="en-US" sz="1400" dirty="0" smtClean="0"/>
              <a:t>Install IIS server, </a:t>
            </a:r>
            <a:r>
              <a:rPr lang="en-US" sz="1400" dirty="0" err="1" smtClean="0"/>
              <a:t>Git</a:t>
            </a:r>
            <a:r>
              <a:rPr lang="en-US" sz="1400" dirty="0" smtClean="0"/>
              <a:t>, Eclipse and Maven plugin</a:t>
            </a:r>
          </a:p>
          <a:p>
            <a:pPr marL="228600" indent="-228600">
              <a:buFont typeface="+mj-lt"/>
              <a:buAutoNum type="arabicPeriod"/>
            </a:pPr>
            <a:r>
              <a:rPr lang="en-US" sz="1400" dirty="0" smtClean="0"/>
              <a:t>Download all </a:t>
            </a:r>
            <a:r>
              <a:rPr lang="en-US" sz="1400" dirty="0" err="1" smtClean="0"/>
              <a:t>git</a:t>
            </a:r>
            <a:r>
              <a:rPr lang="en-US" sz="1400" dirty="0" smtClean="0"/>
              <a:t> repositories using link for demo</a:t>
            </a:r>
          </a:p>
          <a:p>
            <a:pPr marL="228600" indent="-228600">
              <a:buFont typeface="+mj-lt"/>
              <a:buAutoNum type="arabicPeriod"/>
            </a:pPr>
            <a:r>
              <a:rPr lang="en-US" sz="1400" dirty="0" smtClean="0"/>
              <a:t>Deploy </a:t>
            </a:r>
            <a:r>
              <a:rPr lang="en-US" sz="1400" dirty="0" err="1" smtClean="0"/>
              <a:t>MvcMusicStore</a:t>
            </a:r>
            <a:r>
              <a:rPr lang="en-US" sz="1400" dirty="0" smtClean="0"/>
              <a:t> application on IIS server</a:t>
            </a:r>
          </a:p>
          <a:p>
            <a:pPr marL="228600" indent="-228600">
              <a:buFont typeface="+mj-lt"/>
              <a:buAutoNum type="arabicPeriod"/>
            </a:pPr>
            <a:r>
              <a:rPr lang="en-US" sz="1400" dirty="0" smtClean="0"/>
              <a:t>Import framework and </a:t>
            </a:r>
            <a:r>
              <a:rPr lang="en-US" sz="1400" dirty="0" err="1" smtClean="0"/>
              <a:t>WebDriverAutomation</a:t>
            </a:r>
            <a:r>
              <a:rPr lang="en-US" sz="1400" dirty="0" smtClean="0"/>
              <a:t> projects into Eclipse</a:t>
            </a:r>
          </a:p>
          <a:p>
            <a:pPr marL="228600" indent="-228600">
              <a:buFont typeface="+mj-lt"/>
              <a:buAutoNum type="arabicPeriod"/>
            </a:pPr>
            <a:r>
              <a:rPr lang="en-US" sz="1400" dirty="0" smtClean="0"/>
              <a:t>Run MusicStoreTestRunner.java from </a:t>
            </a:r>
            <a:r>
              <a:rPr lang="en-US" sz="1400" dirty="0" err="1" smtClean="0"/>
              <a:t>WebDriverAutomation</a:t>
            </a:r>
            <a:r>
              <a:rPr lang="en-US" sz="1400" dirty="0" smtClean="0"/>
              <a:t> project, </a:t>
            </a:r>
            <a:r>
              <a:rPr lang="en-US" sz="1400" dirty="0" err="1" smtClean="0"/>
              <a:t>automation.test</a:t>
            </a:r>
            <a:r>
              <a:rPr lang="en-US" sz="1400" dirty="0" smtClean="0"/>
              <a:t> package</a:t>
            </a:r>
          </a:p>
          <a:p>
            <a:pPr marL="228600" indent="-228600">
              <a:buFont typeface="+mj-lt"/>
              <a:buAutoNum type="arabicPeriod"/>
            </a:pPr>
            <a:r>
              <a:rPr lang="en-US" sz="1400" dirty="0" smtClean="0"/>
              <a:t>Check results and report.html in {</a:t>
            </a:r>
            <a:r>
              <a:rPr lang="en-US" sz="1400" dirty="0" err="1" smtClean="0"/>
              <a:t>path_to_workspace</a:t>
            </a:r>
            <a:r>
              <a:rPr lang="en-US" sz="1400" dirty="0" smtClean="0"/>
              <a:t>}\</a:t>
            </a:r>
            <a:r>
              <a:rPr lang="en-US" sz="1400" dirty="0" err="1" smtClean="0"/>
              <a:t>WebDriverAutomation</a:t>
            </a:r>
            <a:r>
              <a:rPr lang="en-US" sz="1400" dirty="0" smtClean="0"/>
              <a:t>\test-output\</a:t>
            </a:r>
            <a:r>
              <a:rPr lang="en-US" sz="1400" dirty="0" err="1" smtClean="0"/>
              <a:t>cucumberreports</a:t>
            </a:r>
            <a:r>
              <a:rPr lang="en-US" sz="1400" dirty="0" smtClean="0"/>
              <a:t> directory</a:t>
            </a:r>
            <a:endParaRPr lang="en-US" sz="1400" dirty="0"/>
          </a:p>
        </p:txBody>
      </p:sp>
    </p:spTree>
    <p:extLst>
      <p:ext uri="{BB962C8B-B14F-4D97-AF65-F5344CB8AC3E}">
        <p14:creationId xmlns:p14="http://schemas.microsoft.com/office/powerpoint/2010/main" val="2931565026"/>
      </p:ext>
    </p:extLst>
  </p:cSld>
  <p:clrMapOvr>
    <a:masterClrMapping/>
  </p:clrMapOvr>
  <p:timing>
    <p:tnLst>
      <p:par>
        <p:cTn id="1" dur="indefinite" restart="never" nodeType="tmRoot"/>
      </p:par>
    </p:tnLst>
  </p:timing>
</p:sld>
</file>

<file path=ppt/theme/theme1.xml><?xml version="1.0" encoding="utf-8"?>
<a:theme xmlns:a="http://schemas.openxmlformats.org/drawingml/2006/main" name="lohika_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Lohika PowerPoint Templates.potx" id="{CFA078F1-64CC-4E71-B77D-72F3A8294497}" vid="{2006AF47-8547-4A8E-89F8-862E0702B6C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Lohika PowerPoint Templates</Template>
  <TotalTime>13934</TotalTime>
  <Words>872</Words>
  <Application>Microsoft Office PowerPoint</Application>
  <PresentationFormat>On-screen Show (4:3)</PresentationFormat>
  <Paragraphs>146</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Casper</vt:lpstr>
      <vt:lpstr>Verdana</vt:lpstr>
      <vt:lpstr>Wingdings</vt:lpstr>
      <vt:lpstr>lohika_Theme</vt:lpstr>
      <vt:lpstr>Web App QA Automation Demo  Sergey Pogodin December, 2014 </vt:lpstr>
      <vt:lpstr>Agenda</vt:lpstr>
      <vt:lpstr>Project Goal</vt:lpstr>
      <vt:lpstr>Solution</vt:lpstr>
      <vt:lpstr>Technical Details Selenium</vt:lpstr>
      <vt:lpstr>Page object and Page factory</vt:lpstr>
      <vt:lpstr>PowerPoint Presentation</vt:lpstr>
      <vt:lpstr>XSLT transformation</vt:lpstr>
      <vt:lpstr>Log4J</vt:lpstr>
      <vt:lpstr>Comparison with other technologies Watir vs Selenium WebDriver</vt:lpstr>
      <vt:lpstr>Cucumber vs TestNG</vt:lpstr>
      <vt:lpstr>Cucumber reports vs ReportNG</vt:lpstr>
      <vt:lpstr>Report samples</vt:lpstr>
      <vt:lpstr>PowerPoint Presentation</vt:lpstr>
      <vt:lpstr>System diagram</vt:lpstr>
      <vt:lpstr>Links, how to run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SPogodin@lohika.com</dc:creator>
  <cp:lastModifiedBy>Alexey Onishchenko</cp:lastModifiedBy>
  <cp:revision>172</cp:revision>
  <dcterms:created xsi:type="dcterms:W3CDTF">2006-08-16T00:00:00Z</dcterms:created>
  <dcterms:modified xsi:type="dcterms:W3CDTF">2015-01-28T07:51:38Z</dcterms:modified>
</cp:coreProperties>
</file>